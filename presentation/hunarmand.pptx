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5A4A3A"/>
                </a:solidFill>
                <a:latin typeface="JetBrains Mono Light"/>
              </a:rPr>
              <a:t>tacit knowledge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spc="120">
                <a:solidFill>
                  <a:srgbClr val="A19C98"/>
                </a:solidFill>
                <a:latin typeface="JetBrains Mono Light"/>
              </a:rPr>
              <a:t>for kashmiri heritage artisans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14600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400" b="1" i="0">
                <a:solidFill>
                  <a:srgbClr val="1C1410"/>
                </a:solidFill>
                <a:latin typeface="JetBrains Mono"/>
              </a:rPr>
              <a:t>hunarmand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749039"/>
            <a:ext cx="1280160" cy="0"/>
          </a:xfrm>
          <a:prstGeom prst="line">
            <a:avLst/>
          </a:prstGeom>
          <a:ln w="1143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22415" y="30175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spc="60">
                <a:solidFill>
                  <a:srgbClr val="5A4A3A"/>
                </a:solidFill>
                <a:latin typeface="JetBrains Mono Light"/>
              </a:rPr>
              <a:t>v 0.1 / hackathon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2415" y="3310127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spc="60">
                <a:solidFill>
                  <a:srgbClr val="5A4A3A"/>
                </a:solidFill>
                <a:latin typeface="JetBrains Mono Light"/>
              </a:rPr>
              <a:t>nit srinagar / top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2415" y="3602736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spc="60">
                <a:solidFill>
                  <a:srgbClr val="5A4A3A"/>
                </a:solidFill>
                <a:latin typeface="JetBrains Mono Light"/>
              </a:rPr>
              <a:t>neon pgvector / hf spaces / render / vercel</a:t>
            </a:r>
          </a:p>
        </p:txBody>
      </p:sp>
      <p:sp>
        <p:nvSpPr>
          <p:cNvPr id="10" name="Oval 9"/>
          <p:cNvSpPr/>
          <p:nvPr/>
        </p:nvSpPr>
        <p:spPr>
          <a:xfrm>
            <a:off x="11650675" y="5859780"/>
            <a:ext cx="76200" cy="76200"/>
          </a:xfrm>
          <a:prstGeom prst="ellipse">
            <a:avLst/>
          </a:prstGeom>
          <a:solidFill>
            <a:srgbClr val="C89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94415" y="635508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i="0" spc="120">
                <a:solidFill>
                  <a:srgbClr val="A19C98"/>
                </a:solidFill>
                <a:latin typeface="JetBrains Mono Light"/>
              </a:rPr>
              <a:t>hunarmand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65392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i="0" spc="120">
                <a:solidFill>
                  <a:srgbClr val="A19C98"/>
                </a:solidFill>
                <a:latin typeface="JetBrains Mono Light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spc="120">
                <a:solidFill>
                  <a:srgbClr val="5A4A3A"/>
                </a:solidFill>
                <a:latin typeface="JetBrains Mono Light"/>
              </a:rPr>
              <a:t>loss / kashmiri heritage crafts / 2026</a:t>
            </a:r>
          </a:p>
        </p:txBody>
      </p:sp>
      <p:sp>
        <p:nvSpPr>
          <p:cNvPr id="4" name="Oval 3"/>
          <p:cNvSpPr/>
          <p:nvPr/>
        </p:nvSpPr>
        <p:spPr>
          <a:xfrm>
            <a:off x="1033780" y="942340"/>
            <a:ext cx="127000" cy="127000"/>
          </a:xfrm>
          <a:prstGeom prst="ellipse">
            <a:avLst/>
          </a:prstGeom>
          <a:solidFill>
            <a:srgbClr val="1C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130" y="1725930"/>
            <a:ext cx="114300" cy="114300"/>
          </a:xfrm>
          <a:prstGeom prst="ellipse">
            <a:avLst/>
          </a:prstGeom>
          <a:solidFill>
            <a:srgbClr val="1C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6479" y="2509520"/>
            <a:ext cx="101600" cy="101600"/>
          </a:xfrm>
          <a:prstGeom prst="ellipse">
            <a:avLst/>
          </a:prstGeom>
          <a:solidFill>
            <a:srgbClr val="1C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6479" y="3286760"/>
            <a:ext cx="101600" cy="10160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2830" y="4070350"/>
            <a:ext cx="88900" cy="88900"/>
          </a:xfrm>
          <a:prstGeom prst="ellipse">
            <a:avLst/>
          </a:prstGeom>
          <a:noFill/>
          <a:ln w="11430">
            <a:solidFill>
              <a:srgbClr val="1C1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9180" y="4853939"/>
            <a:ext cx="76200" cy="76200"/>
          </a:xfrm>
          <a:prstGeom prst="ellipse">
            <a:avLst/>
          </a:prstGeom>
          <a:noFill/>
          <a:ln w="11430">
            <a:solidFill>
              <a:srgbClr val="B7B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1880" y="5643880"/>
            <a:ext cx="50800" cy="50800"/>
          </a:xfrm>
          <a:prstGeom prst="ellipse">
            <a:avLst/>
          </a:prstGeom>
          <a:solidFill>
            <a:srgbClr val="C2B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097280" y="1087628"/>
            <a:ext cx="0" cy="620014"/>
          </a:xfrm>
          <a:prstGeom prst="line">
            <a:avLst/>
          </a:prstGeom>
          <a:ln w="9525">
            <a:solidFill>
              <a:srgbClr val="1C1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" y="1858518"/>
            <a:ext cx="0" cy="632714"/>
          </a:xfrm>
          <a:prstGeom prst="line">
            <a:avLst/>
          </a:prstGeom>
          <a:ln w="9525">
            <a:solidFill>
              <a:srgbClr val="1C1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" y="2629407"/>
            <a:ext cx="0" cy="639065"/>
          </a:xfrm>
          <a:prstGeom prst="line">
            <a:avLst/>
          </a:prstGeom>
          <a:ln w="9525">
            <a:solidFill>
              <a:srgbClr val="1C1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" y="3406647"/>
            <a:ext cx="0" cy="645415"/>
          </a:xfrm>
          <a:prstGeom prst="line">
            <a:avLst/>
          </a:prstGeom>
          <a:ln w="9525">
            <a:solidFill>
              <a:srgbClr val="756F6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" y="4177537"/>
            <a:ext cx="0" cy="658115"/>
          </a:xfrm>
          <a:prstGeom prst="line">
            <a:avLst/>
          </a:prstGeom>
          <a:ln w="9525">
            <a:solidFill>
              <a:srgbClr val="756F6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97280" y="4948428"/>
            <a:ext cx="0" cy="677164"/>
          </a:xfrm>
          <a:prstGeom prst="line">
            <a:avLst/>
          </a:prstGeom>
          <a:ln w="9525">
            <a:solidFill>
              <a:srgbClr val="756F6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98448" y="896112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spc="60">
                <a:solidFill>
                  <a:srgbClr val="5A4A3A"/>
                </a:solidFill>
                <a:latin typeface="JetBrains Mono Light"/>
              </a:rPr>
              <a:t>ustaad, b. 1953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1673352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spc="60">
                <a:solidFill>
                  <a:srgbClr val="5A4A3A"/>
                </a:solidFill>
                <a:latin typeface="JetBrains Mono Light"/>
              </a:rPr>
              <a:t>son, taxi driver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450591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spc="60">
                <a:solidFill>
                  <a:srgbClr val="5A4A3A"/>
                </a:solidFill>
                <a:latin typeface="JetBrains Mono Light"/>
              </a:rPr>
              <a:t>nephew,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227832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spc="60">
                <a:solidFill>
                  <a:srgbClr val="5A4A3A"/>
                </a:solidFill>
                <a:latin typeface="JetBrains Mono Light"/>
              </a:rPr>
              <a:t>grandson, exam prep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005072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spc="60">
                <a:solidFill>
                  <a:srgbClr val="5A4A3A"/>
                </a:solidFill>
                <a:latin typeface="JetBrains Mono Light"/>
              </a:rPr>
              <a:t>no apprentice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782312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spc="60">
                <a:solidFill>
                  <a:srgbClr val="5A4A3A"/>
                </a:solidFill>
                <a:latin typeface="JetBrains Mono Light"/>
              </a:rPr>
              <a:t>no apprentice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5559552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spc="60">
                <a:solidFill>
                  <a:srgbClr val="5A4A3A"/>
                </a:solidFill>
                <a:latin typeface="JetBrains Mono Light"/>
              </a:rPr>
              <a:t>silence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4335" y="1874519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2800" b="0" i="0">
                <a:solidFill>
                  <a:srgbClr val="5A4A3A"/>
                </a:solidFill>
                <a:latin typeface="JetBrains Mono Light"/>
              </a:rPr>
              <a:t>yrs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914400"/>
            <a:ext cx="5196535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4000" b="0" i="0">
                <a:solidFill>
                  <a:srgbClr val="1C1410"/>
                </a:solidFill>
                <a:latin typeface="JetBrains Mono Light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246120"/>
            <a:ext cx="643097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400" b="1" i="0">
                <a:solidFill>
                  <a:srgbClr val="1C1410"/>
                </a:solidFill>
                <a:latin typeface="JetBrains Mono"/>
              </a:rPr>
              <a:t>median time a kashmiri craft survives without an apprentice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03320"/>
            <a:ext cx="6430975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100" b="0" i="0">
                <a:solidFill>
                  <a:srgbClr val="1C1410"/>
                </a:solidFill>
                <a:latin typeface="JetBrains Mono"/>
              </a:rPr>
              <a:t>talking to ten thousand workshops in the valley</a:t>
            </a:r>
          </a:p>
          <a:p>
            <a:pPr algn="r">
              <a:lnSpc>
                <a:spcPct val="140000"/>
              </a:lnSpc>
            </a:pPr>
            <a:r>
              <a:rPr sz="1100" b="0" i="0">
                <a:solidFill>
                  <a:srgbClr val="1C1410"/>
                </a:solidFill>
                <a:latin typeface="JetBrains Mono"/>
              </a:rPr>
              <a:t>is not a sentimental project. it is a deadline.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74175" y="4617720"/>
            <a:ext cx="2377440" cy="0"/>
          </a:xfrm>
          <a:prstGeom prst="line">
            <a:avLst/>
          </a:prstGeom>
          <a:ln w="1524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094415" y="635508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i="0" spc="120">
                <a:solidFill>
                  <a:srgbClr val="A19C98"/>
                </a:solidFill>
                <a:latin typeface="JetBrains Mono Light"/>
              </a:rPr>
              <a:t>hunarmand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565392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i="0" spc="120">
                <a:solidFill>
                  <a:srgbClr val="A19C98"/>
                </a:solidFill>
                <a:latin typeface="JetBrains Mono Light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spc="60">
                <a:solidFill>
                  <a:srgbClr val="5A4A3A"/>
                </a:solidFill>
                <a:latin typeface="JetBrains Mono Light"/>
              </a:rPr>
              <a:t>talim, kanihama, c. 1820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92004" y="959252"/>
            <a:ext cx="154645" cy="150184"/>
          </a:xfrm>
          <a:prstGeom prst="line">
            <a:avLst/>
          </a:prstGeom>
          <a:ln w="10160">
            <a:solidFill>
              <a:srgbClr val="1C1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429088" y="1111543"/>
            <a:ext cx="122740" cy="235386"/>
          </a:xfrm>
          <a:prstGeom prst="line">
            <a:avLst/>
          </a:prstGeom>
          <a:ln w="10160">
            <a:solidFill>
              <a:srgbClr val="1C1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81531" y="1477687"/>
            <a:ext cx="122611" cy="136006"/>
          </a:xfrm>
          <a:prstGeom prst="line">
            <a:avLst/>
          </a:prstGeom>
          <a:ln w="10160">
            <a:solidFill>
              <a:srgbClr val="1C1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20942" y="1643981"/>
            <a:ext cx="127877" cy="187678"/>
          </a:xfrm>
          <a:prstGeom prst="line">
            <a:avLst/>
          </a:prstGeom>
          <a:ln w="10160">
            <a:solidFill>
              <a:srgbClr val="1C1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03108" y="2008811"/>
            <a:ext cx="138140" cy="130184"/>
          </a:xfrm>
          <a:prstGeom prst="line">
            <a:avLst/>
          </a:prstGeom>
          <a:ln w="10160">
            <a:solidFill>
              <a:srgbClr val="1C1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61303" y="2096957"/>
            <a:ext cx="53927" cy="241870"/>
          </a:xfrm>
          <a:prstGeom prst="line">
            <a:avLst/>
          </a:prstGeom>
          <a:ln w="10160">
            <a:solidFill>
              <a:srgbClr val="1C1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85436" y="2466198"/>
            <a:ext cx="136162" cy="206401"/>
          </a:xfrm>
          <a:prstGeom prst="line">
            <a:avLst/>
          </a:prstGeom>
          <a:ln w="10160">
            <a:solidFill>
              <a:srgbClr val="1C1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03108" y="2634123"/>
            <a:ext cx="122160" cy="212923"/>
          </a:xfrm>
          <a:prstGeom prst="line">
            <a:avLst/>
          </a:prstGeom>
          <a:ln w="10160">
            <a:solidFill>
              <a:srgbClr val="1C1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00194" y="2966100"/>
            <a:ext cx="103197" cy="164784"/>
          </a:xfrm>
          <a:prstGeom prst="line">
            <a:avLst/>
          </a:prstGeom>
          <a:ln w="10160">
            <a:solidFill>
              <a:srgbClr val="1C1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39660" y="3127185"/>
            <a:ext cx="100457" cy="236425"/>
          </a:xfrm>
          <a:prstGeom prst="line">
            <a:avLst/>
          </a:prstGeom>
          <a:ln w="10160">
            <a:solidFill>
              <a:srgbClr val="1C1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96735" y="3482022"/>
            <a:ext cx="160407" cy="187848"/>
          </a:xfrm>
          <a:prstGeom prst="line">
            <a:avLst/>
          </a:prstGeom>
          <a:ln w="10160">
            <a:solidFill>
              <a:srgbClr val="1C1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07744" y="3639503"/>
            <a:ext cx="122724" cy="245562"/>
          </a:xfrm>
          <a:prstGeom prst="line">
            <a:avLst/>
          </a:prstGeom>
          <a:ln w="10160">
            <a:solidFill>
              <a:srgbClr val="1C1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06840" y="3984293"/>
            <a:ext cx="163893" cy="146001"/>
          </a:xfrm>
          <a:prstGeom prst="line">
            <a:avLst/>
          </a:prstGeom>
          <a:ln w="10160">
            <a:solidFill>
              <a:srgbClr val="1C1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20474" y="4154119"/>
            <a:ext cx="127057" cy="209148"/>
          </a:xfrm>
          <a:prstGeom prst="line">
            <a:avLst/>
          </a:prstGeom>
          <a:ln w="10160">
            <a:solidFill>
              <a:srgbClr val="1C1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81594" y="4508076"/>
            <a:ext cx="173367" cy="158419"/>
          </a:xfrm>
          <a:prstGeom prst="line">
            <a:avLst/>
          </a:prstGeom>
          <a:ln w="10160">
            <a:solidFill>
              <a:srgbClr val="1C1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53930" y="4628658"/>
            <a:ext cx="68761" cy="244276"/>
          </a:xfrm>
          <a:prstGeom prst="line">
            <a:avLst/>
          </a:prstGeom>
          <a:ln w="10160">
            <a:solidFill>
              <a:srgbClr val="1C1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66560" y="502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spc="60">
                <a:solidFill>
                  <a:srgbClr val="5A4A3A"/>
                </a:solidFill>
                <a:latin typeface="JetBrains Mono Light"/>
              </a:rPr>
              <a:t>craft dna, hunarmand,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914400"/>
            <a:ext cx="4876495" cy="4206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1C1410"/>
                </a:solidFill>
                <a:latin typeface="JetBrains Mono"/>
              </a:rPr>
              <a:t>{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1C1410"/>
                </a:solidFill>
                <a:latin typeface="JetBrains Mono"/>
              </a:rPr>
              <a:t>  "piece":      </a:t>
            </a:r>
            <a:r>
              <a:rPr sz="1100">
                <a:solidFill>
                  <a:srgbClr val="5A4A3A"/>
                </a:solidFill>
                <a:latin typeface="JetBrains Mono"/>
              </a:rPr>
              <a:t>"kani-buti pashmina shawl",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1C1410"/>
                </a:solidFill>
                <a:latin typeface="JetBrains Mono"/>
              </a:rPr>
              <a:t>  "warp":       </a:t>
            </a:r>
            <a:r>
              <a:rPr sz="1100">
                <a:solidFill>
                  <a:srgbClr val="5A4A3A"/>
                </a:solidFill>
                <a:latin typeface="JetBrains Mono"/>
              </a:rPr>
              <a:t>"single, 28 ends per cm",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1C1410"/>
                </a:solidFill>
                <a:latin typeface="JetBrains Mono"/>
              </a:rPr>
              <a:t>  "weft":       </a:t>
            </a:r>
            <a:r>
              <a:rPr sz="1100">
                <a:solidFill>
                  <a:srgbClr val="5A4A3A"/>
                </a:solidFill>
                <a:latin typeface="JetBrains Mono"/>
              </a:rPr>
              <a:t>["pashmina, ladakh", "silk, varanasi"],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1C1410"/>
                </a:solidFill>
                <a:latin typeface="JetBrains Mono"/>
              </a:rPr>
              <a:t>  "knot":       </a:t>
            </a:r>
            <a:r>
              <a:rPr sz="1100">
                <a:solidFill>
                  <a:srgbClr val="5A4A3A"/>
                </a:solidFill>
                <a:latin typeface="JetBrains Mono"/>
              </a:rPr>
              <a:t>"1940s srinagar twill-tapestry",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1C1410"/>
                </a:solidFill>
                <a:latin typeface="JetBrains Mono"/>
              </a:rPr>
              <a:t>  "dye":        </a:t>
            </a:r>
            <a:r>
              <a:rPr sz="1100">
                <a:solidFill>
                  <a:srgbClr val="5A4A3A"/>
                </a:solidFill>
                <a:latin typeface="JetBrains Mono"/>
              </a:rPr>
              <a:t>["walnut bark", "saffron stigma"],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1C1410"/>
                </a:solidFill>
                <a:latin typeface="JetBrains Mono"/>
              </a:rPr>
              <a:t>  "kid":        </a:t>
            </a:r>
            <a:r>
              <a:rPr sz="1100">
                <a:solidFill>
                  <a:srgbClr val="5A4A3A"/>
                </a:solidFill>
                <a:latin typeface="JetBrains Mono"/>
              </a:rPr>
              <a:t>"mohammad-yusuf:1",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1C1410"/>
                </a:solidFill>
                <a:latin typeface="JetBrains Mono"/>
              </a:rPr>
              <a:t>  "signature":  </a:t>
            </a:r>
            <a:r>
              <a:rPr sz="1100">
                <a:solidFill>
                  <a:srgbClr val="5A4A3A"/>
                </a:solidFill>
                <a:latin typeface="JetBrains Mono"/>
              </a:rPr>
              <a:t>"ed25519, jcs canonical"</a:t>
            </a:r>
          </a:p>
          <a:p>
            <a:pPr algn="l">
              <a:lnSpc>
                <a:spcPct val="145000"/>
              </a:lnSpc>
            </a:pPr>
            <a:r>
              <a:rPr sz="1100" b="1">
                <a:solidFill>
                  <a:srgbClr val="1C1410"/>
                </a:solidFill>
                <a:latin typeface="JetBrains Mono"/>
              </a:rPr>
              <a:t>}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1463040" y="3291840"/>
            <a:ext cx="2628900" cy="1554480"/>
          </a:xfrm>
          <a:prstGeom prst="line">
            <a:avLst/>
          </a:prstGeom>
          <a:ln w="127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091940" y="1417320"/>
            <a:ext cx="2601468" cy="1874520"/>
          </a:xfrm>
          <a:prstGeom prst="line">
            <a:avLst/>
          </a:prstGeom>
          <a:ln w="127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1C1410"/>
                </a:solidFill>
                <a:latin typeface="JetBrains Mono"/>
              </a:rPr>
              <a:t>same instruction.  seventh medium.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35508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i="0" spc="120">
                <a:solidFill>
                  <a:srgbClr val="A19C98"/>
                </a:solidFill>
                <a:latin typeface="JetBrains Mono Light"/>
              </a:rPr>
              <a:t>hunarmand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565392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i="0" spc="120">
                <a:solidFill>
                  <a:srgbClr val="A19C98"/>
                </a:solidFill>
                <a:latin typeface="JetBrains Mono Light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spc="120">
                <a:solidFill>
                  <a:srgbClr val="5A4A3A"/>
                </a:solidFill>
                <a:latin typeface="JetBrains Mono Light"/>
              </a:rPr>
              <a:t>architecture / 2026.q2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154755" y="1307156"/>
            <a:ext cx="2891074" cy="1357928"/>
          </a:xfrm>
          <a:prstGeom prst="line">
            <a:avLst/>
          </a:prstGeom>
          <a:ln w="11430">
            <a:solidFill>
              <a:srgbClr val="1C1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83770" y="2729875"/>
            <a:ext cx="2891074" cy="1357928"/>
          </a:xfrm>
          <a:prstGeom prst="line">
            <a:avLst/>
          </a:prstGeom>
          <a:ln w="11430">
            <a:solidFill>
              <a:srgbClr val="1C1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189795" y="4141796"/>
            <a:ext cx="2902569" cy="1363327"/>
          </a:xfrm>
          <a:prstGeom prst="line">
            <a:avLst/>
          </a:prstGeom>
          <a:ln w="11430">
            <a:solidFill>
              <a:srgbClr val="1C1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33780" y="1216660"/>
            <a:ext cx="127000" cy="127000"/>
          </a:xfrm>
          <a:prstGeom prst="ellipse">
            <a:avLst/>
          </a:prstGeom>
          <a:solidFill>
            <a:srgbClr val="1C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61948" y="987551"/>
            <a:ext cx="1028110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1C1410"/>
                </a:solidFill>
                <a:latin typeface="JetBrains Mono"/>
              </a:rPr>
              <a:t>vault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1948" y="1243584"/>
            <a:ext cx="1028110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60">
                <a:solidFill>
                  <a:srgbClr val="5A4A3A"/>
                </a:solidFill>
                <a:latin typeface="JetBrains Mono Light"/>
              </a:rPr>
              <a:t>captures what the master never wrote down</a:t>
            </a:r>
          </a:p>
        </p:txBody>
      </p:sp>
      <p:sp>
        <p:nvSpPr>
          <p:cNvPr id="10" name="Oval 9"/>
          <p:cNvSpPr/>
          <p:nvPr/>
        </p:nvSpPr>
        <p:spPr>
          <a:xfrm>
            <a:off x="4038600" y="2621280"/>
            <a:ext cx="152400" cy="15240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2167" y="2404872"/>
            <a:ext cx="725088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1C1410"/>
                </a:solidFill>
                <a:latin typeface="JetBrains Mono"/>
              </a:rPr>
              <a:t>sanad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2167" y="2660904"/>
            <a:ext cx="725088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60">
                <a:solidFill>
                  <a:srgbClr val="5A4A3A"/>
                </a:solidFill>
                <a:latin typeface="JetBrains Mono Light"/>
              </a:rPr>
              <a:t>signs the piece against the master's keypair</a:t>
            </a:r>
          </a:p>
        </p:txBody>
      </p:sp>
      <p:sp>
        <p:nvSpPr>
          <p:cNvPr id="13" name="Oval 12"/>
          <p:cNvSpPr/>
          <p:nvPr/>
        </p:nvSpPr>
        <p:spPr>
          <a:xfrm>
            <a:off x="7068820" y="4051300"/>
            <a:ext cx="127000" cy="127000"/>
          </a:xfrm>
          <a:prstGeom prst="ellipse">
            <a:avLst/>
          </a:prstGeom>
          <a:solidFill>
            <a:srgbClr val="1C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96988" y="3822191"/>
            <a:ext cx="424606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1C1410"/>
                </a:solidFill>
                <a:latin typeface="JetBrains Mono"/>
              </a:rPr>
              <a:t>ustaad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6988" y="4078224"/>
            <a:ext cx="424606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60">
                <a:solidFill>
                  <a:srgbClr val="5A4A3A"/>
                </a:solidFill>
                <a:latin typeface="JetBrains Mono Light"/>
              </a:rPr>
              <a:t>sells the master's own time, not a middleman's</a:t>
            </a:r>
          </a:p>
        </p:txBody>
      </p:sp>
      <p:sp>
        <p:nvSpPr>
          <p:cNvPr id="16" name="Oval 15"/>
          <p:cNvSpPr/>
          <p:nvPr/>
        </p:nvSpPr>
        <p:spPr>
          <a:xfrm>
            <a:off x="10086340" y="5468620"/>
            <a:ext cx="127000" cy="127000"/>
          </a:xfrm>
          <a:prstGeom prst="ellipse">
            <a:avLst/>
          </a:prstGeom>
          <a:solidFill>
            <a:srgbClr val="1C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508" y="523951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1C1410"/>
                </a:solidFill>
                <a:latin typeface="JetBrains Mono"/>
              </a:rPr>
              <a:t>bazaar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4508" y="549554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60">
                <a:solidFill>
                  <a:srgbClr val="5A4A3A"/>
                </a:solidFill>
                <a:latin typeface="JetBrains Mono Light"/>
              </a:rPr>
              <a:t>sells the verified object, provenance attached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31920" y="1463040"/>
            <a:ext cx="1280159" cy="0"/>
          </a:xfrm>
          <a:prstGeom prst="line">
            <a:avLst/>
          </a:prstGeom>
          <a:ln w="127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931920" y="153619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1C1410"/>
                </a:solidFill>
                <a:latin typeface="JetBrains Mono"/>
              </a:rPr>
              <a:t>the keystone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1792224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spc="60">
                <a:solidFill>
                  <a:srgbClr val="5A4A3A"/>
                </a:solidFill>
                <a:latin typeface="JetBrains Mono Light"/>
              </a:rPr>
              <a:t>provenance is what buyers pay a premium for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35508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i="0" spc="120">
                <a:solidFill>
                  <a:srgbClr val="A19C98"/>
                </a:solidFill>
                <a:latin typeface="JetBrains Mono Light"/>
              </a:rPr>
              <a:t>hunarmand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565392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i="0" spc="120">
                <a:solidFill>
                  <a:srgbClr val="A19C98"/>
                </a:solidFill>
                <a:latin typeface="JetBrains Mono Light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spc="120">
                <a:solidFill>
                  <a:srgbClr val="5A4A3A"/>
                </a:solidFill>
                <a:latin typeface="JetBrains Mono Light"/>
              </a:rPr>
              <a:t>who keeps the value of a hand-knotted shawl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99716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1C1410"/>
                </a:solidFill>
                <a:latin typeface="JetBrains Mono"/>
              </a:rPr>
              <a:t>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194560"/>
            <a:ext cx="6419088" cy="411480"/>
          </a:xfrm>
          <a:prstGeom prst="rect">
            <a:avLst/>
          </a:prstGeom>
          <a:solidFill>
            <a:srgbClr val="1C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47888" y="2194560"/>
            <a:ext cx="1810511" cy="411480"/>
          </a:xfrm>
          <a:prstGeom prst="rect">
            <a:avLst/>
          </a:prstGeom>
          <a:solidFill>
            <a:srgbClr val="C2BA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715768"/>
            <a:ext cx="641908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spc="60">
                <a:solidFill>
                  <a:srgbClr val="5A4A3A"/>
                </a:solidFill>
                <a:latin typeface="JetBrains Mono Light"/>
              </a:rPr>
              <a:t>middleman chain, 70 to 85 percent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7888" y="2715768"/>
            <a:ext cx="272491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spc="60">
                <a:solidFill>
                  <a:srgbClr val="5A4A3A"/>
                </a:solidFill>
                <a:latin typeface="JetBrains Mono Light"/>
              </a:rPr>
              <a:t>artisan, 15 to 30 percent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7036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JetBrains Mono"/>
              </a:rPr>
              <a:t>hunarmand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611880"/>
            <a:ext cx="658368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87168" y="3611880"/>
            <a:ext cx="7571231" cy="411480"/>
          </a:xfrm>
          <a:prstGeom prst="rect">
            <a:avLst/>
          </a:prstGeom>
          <a:solidFill>
            <a:srgbClr val="1C1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59" y="3200400"/>
            <a:ext cx="212140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 spc="60">
                <a:solidFill>
                  <a:srgbClr val="5A4A3A"/>
                </a:solidFill>
                <a:latin typeface="JetBrains Mono Light"/>
              </a:rPr>
              <a:t>platform, 6 to 9 percent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2887" y="4133088"/>
            <a:ext cx="757123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spc="60">
                <a:solidFill>
                  <a:srgbClr val="5A4A3A"/>
                </a:solidFill>
                <a:latin typeface="JetBrains Mono Light"/>
              </a:rPr>
              <a:t>artisan, 91 to 94 percent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7731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1C1410"/>
                </a:solidFill>
                <a:latin typeface="JetBrains Mono"/>
              </a:rPr>
              <a:t>the artisan keeps the rest.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35508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i="0" spc="120">
                <a:solidFill>
                  <a:srgbClr val="A19C98"/>
                </a:solidFill>
                <a:latin typeface="JetBrains Mono Light"/>
              </a:rPr>
              <a:t>hunarmand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565392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i="0" spc="120">
                <a:solidFill>
                  <a:srgbClr val="A19C98"/>
                </a:solidFill>
                <a:latin typeface="JetBrains Mono Light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spc="120">
                <a:solidFill>
                  <a:srgbClr val="5A4A3A"/>
                </a:solidFill>
                <a:latin typeface="JetBrains Mono Light"/>
              </a:rPr>
              <a:t>live build / hunarmand.sal.lol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0" b="0" i="0">
                <a:solidFill>
                  <a:srgbClr val="1C1410"/>
                </a:solidFill>
                <a:latin typeface="JetBrains Mono Light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874519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spc="60">
                <a:solidFill>
                  <a:srgbClr val="5A4A3A"/>
                </a:solidFill>
                <a:latin typeface="JetBrains Mono Light"/>
              </a:rPr>
              <a:t>seeded artisan masters, four crafts, six villages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0" b="0" i="0">
                <a:solidFill>
                  <a:srgbClr val="1C1410"/>
                </a:solidFill>
                <a:latin typeface="JetBrains Mono Light"/>
              </a:rPr>
              <a:t>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33375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spc="60">
                <a:solidFill>
                  <a:srgbClr val="5A4A3A"/>
                </a:solidFill>
                <a:latin typeface="JetBrains Mono Light"/>
              </a:rPr>
              <a:t>bookable workshops, four formats, six regions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0" b="0" i="0">
                <a:solidFill>
                  <a:srgbClr val="1C1410"/>
                </a:solidFill>
                <a:latin typeface="JetBrains Mono Light"/>
              </a:rPr>
              <a:t>2.8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4800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spc="60">
                <a:solidFill>
                  <a:srgbClr val="5A4A3A"/>
                </a:solidFill>
                <a:latin typeface="JetBrains Mono Light"/>
              </a:rPr>
              <a:t>median latency, ed25519 sign and persist, neon to vercel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1C1410"/>
                </a:solidFill>
                <a:latin typeface="JetBrains Mono"/>
              </a:rPr>
              <a:t>nothing on these slides is a mockup.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373368"/>
            <a:ext cx="1828800" cy="0"/>
          </a:xfrm>
          <a:prstGeom prst="line">
            <a:avLst/>
          </a:prstGeom>
          <a:ln w="1143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978400" y="6130544"/>
            <a:ext cx="101600" cy="10160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6080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 spc="60">
                <a:solidFill>
                  <a:srgbClr val="5A4A3A"/>
                </a:solidFill>
                <a:latin typeface="JetBrains Mono Light"/>
              </a:rPr>
              <a:t>every number is queryable from the public api right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35508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i="0" spc="120">
                <a:solidFill>
                  <a:srgbClr val="A19C98"/>
                </a:solidFill>
                <a:latin typeface="JetBrains Mono Light"/>
              </a:rPr>
              <a:t>hunarmand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565392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i="0" spc="120">
                <a:solidFill>
                  <a:srgbClr val="A19C98"/>
                </a:solidFill>
                <a:latin typeface="JetBrains Mono Light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200" b="0" i="0">
                <a:solidFill>
                  <a:srgbClr val="756F6A"/>
                </a:solidFill>
                <a:latin typeface="JetBrains Mono Light"/>
              </a:rPr>
              <a:t>we are not bringing foreign technology to kashmir.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63240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200" b="1" i="0">
                <a:solidFill>
                  <a:srgbClr val="1C1410"/>
                </a:solidFill>
                <a:latin typeface="JetBrains Mono"/>
              </a:rPr>
              <a:t>we are upgrading what kashmir already invented.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55767" y="3977640"/>
            <a:ext cx="1280160" cy="0"/>
          </a:xfrm>
          <a:prstGeom prst="line">
            <a:avLst/>
          </a:prstGeom>
          <a:ln w="1143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0" y="42519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b="1" i="0">
                <a:solidFill>
                  <a:srgbClr val="1C1410"/>
                </a:solidFill>
                <a:latin typeface="JetBrains Mono"/>
              </a:rPr>
              <a:t>hunarmand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690872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 i="0" spc="120">
                <a:solidFill>
                  <a:srgbClr val="5A4A3A"/>
                </a:solidFill>
                <a:latin typeface="JetBrains Mono Light"/>
              </a:rPr>
              <a:t>tacit knowledge os, srinagar,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35508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i="0" spc="120">
                <a:solidFill>
                  <a:srgbClr val="A19C98"/>
                </a:solidFill>
                <a:latin typeface="JetBrains Mono Light"/>
              </a:rPr>
              <a:t>hunarmand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 i="0" spc="120">
                <a:solidFill>
                  <a:srgbClr val="A19C98"/>
                </a:solidFill>
                <a:latin typeface="JetBrains Mono Light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
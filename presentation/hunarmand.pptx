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0" i="0">
                <a:solidFill>
                  <a:srgbClr val="5A4A3A"/>
                </a:solidFill>
                <a:latin typeface="JetBrains Mono Light"/>
              </a:rPr>
              <a:t>tacit knowledge 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spc="120">
                <a:solidFill>
                  <a:srgbClr val="A19C98"/>
                </a:solidFill>
                <a:latin typeface="JetBrains Mono Light"/>
              </a:rPr>
              <a:t>for kashmiri heritage artisans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514600"/>
            <a:ext cx="786384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400" b="1" i="0">
                <a:solidFill>
                  <a:srgbClr val="1C1410"/>
                </a:solidFill>
                <a:latin typeface="JetBrains Mono"/>
              </a:rPr>
              <a:t>hunarmand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3749039"/>
            <a:ext cx="1280160" cy="0"/>
          </a:xfrm>
          <a:prstGeom prst="line">
            <a:avLst/>
          </a:prstGeom>
          <a:ln w="1143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3977639"/>
            <a:ext cx="731520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5A4A3A"/>
                </a:solidFill>
                <a:latin typeface="JetBrains Mono Light"/>
              </a:rPr>
              <a:t>we treat what the master never wrote down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5A4A3A"/>
                </a:solidFill>
                <a:latin typeface="JetBrains Mono Light"/>
              </a:rPr>
              <a:t>as captureable, queryable, ownable infrastructure.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0608041" y="1484607"/>
            <a:ext cx="169934" cy="156514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738372" y="1628653"/>
            <a:ext cx="119000" cy="221483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614533" y="2000321"/>
            <a:ext cx="102719" cy="131851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707855" y="2145799"/>
            <a:ext cx="126256" cy="177171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627419" y="2512666"/>
            <a:ext cx="130783" cy="145261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0712744" y="2597856"/>
            <a:ext cx="128913" cy="229165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598452" y="2975929"/>
            <a:ext cx="114115" cy="173826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733448" y="3153738"/>
            <a:ext cx="108632" cy="213375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0609774" y="3501920"/>
            <a:ext cx="134047" cy="137166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774203" y="3666468"/>
            <a:ext cx="53197" cy="207887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603026" y="3981096"/>
            <a:ext cx="128485" cy="145698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757278" y="4131284"/>
            <a:ext cx="69831" cy="225425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626536" y="4517902"/>
            <a:ext cx="83871" cy="122017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767811" y="4638658"/>
            <a:ext cx="53182" cy="221670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534095" y="1965960"/>
            <a:ext cx="201168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50000"/>
              </a:lnSpc>
            </a:pPr>
            <a:r>
              <a:rPr sz="900" b="0" i="0" spc="60">
                <a:solidFill>
                  <a:srgbClr val="5A4A3A"/>
                </a:solidFill>
                <a:latin typeface="JetBrains Mono Light"/>
              </a:rPr>
              <a:t>talim, kanihama,</a:t>
            </a:r>
          </a:p>
          <a:p>
            <a:pPr algn="r">
              <a:lnSpc>
                <a:spcPct val="150000"/>
              </a:lnSpc>
            </a:pPr>
            <a:r>
              <a:rPr sz="900" b="0" i="0" spc="60">
                <a:solidFill>
                  <a:srgbClr val="5A4A3A"/>
                </a:solidFill>
                <a:latin typeface="JetBrains Mono Light"/>
              </a:rPr>
              <a:t>c. 1820.  the script</a:t>
            </a:r>
          </a:p>
          <a:p>
            <a:pPr algn="r">
              <a:lnSpc>
                <a:spcPct val="150000"/>
              </a:lnSpc>
            </a:pPr>
            <a:r>
              <a:rPr sz="900" b="0" i="0" spc="60">
                <a:solidFill>
                  <a:srgbClr val="5A4A3A"/>
                </a:solidFill>
                <a:latin typeface="JetBrains Mono Light"/>
              </a:rPr>
              <a:t>the master kept.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8521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 i="0">
                <a:solidFill>
                  <a:srgbClr val="1C1410"/>
                </a:solidFill>
                <a:latin typeface="JetBrains Mono"/>
              </a:rPr>
              <a:t>bitwise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8640" y="6163056"/>
            <a:ext cx="640079" cy="0"/>
          </a:xfrm>
          <a:prstGeom prst="line">
            <a:avLst/>
          </a:prstGeom>
          <a:ln w="11430">
            <a:solidFill>
              <a:srgbClr val="C897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623620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spc="120">
                <a:solidFill>
                  <a:srgbClr val="5A4A3A"/>
                </a:solidFill>
                <a:latin typeface="JetBrains Mono Light"/>
              </a:rPr>
              <a:t>srinagar  ·  2026  ·  v 0.1 hackathon build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22415" y="623620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 spc="120">
                <a:solidFill>
                  <a:srgbClr val="5A4A3A"/>
                </a:solidFill>
                <a:latin typeface="JetBrains Mono Light"/>
              </a:rPr>
              <a:t>neon pgvector  ·  hf spaces  ·  render  ·  vercel</a:t>
            </a:r>
          </a:p>
        </p:txBody>
      </p:sp>
      <p:sp>
        <p:nvSpPr>
          <p:cNvPr id="27" name="Oval 26"/>
          <p:cNvSpPr/>
          <p:nvPr/>
        </p:nvSpPr>
        <p:spPr>
          <a:xfrm>
            <a:off x="11637975" y="5435600"/>
            <a:ext cx="101600" cy="101600"/>
          </a:xfrm>
          <a:prstGeom prst="ellipse">
            <a:avLst/>
          </a:prstGeom>
          <a:solidFill>
            <a:srgbClr val="C89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094415" y="635508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800" b="0" i="0" spc="120">
                <a:solidFill>
                  <a:srgbClr val="A19C98"/>
                </a:solidFill>
                <a:latin typeface="JetBrains Mono Light"/>
              </a:rPr>
              <a:t>hunarmand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94415" y="6565392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800" b="0" i="0" spc="120">
                <a:solidFill>
                  <a:srgbClr val="A19C98"/>
                </a:solidFill>
                <a:latin typeface="JetBrains Mono Light"/>
              </a:rPr>
              <a:t>01 / 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spc="120">
                <a:solidFill>
                  <a:srgbClr val="5A4A3A"/>
                </a:solidFill>
                <a:latin typeface="JetBrains Mono Light"/>
              </a:rPr>
              <a:t>loss / kashmiri heritage crafts / 2026</a:t>
            </a:r>
          </a:p>
        </p:txBody>
      </p:sp>
      <p:sp>
        <p:nvSpPr>
          <p:cNvPr id="4" name="Oval 3"/>
          <p:cNvSpPr/>
          <p:nvPr/>
        </p:nvSpPr>
        <p:spPr>
          <a:xfrm>
            <a:off x="1033780" y="942340"/>
            <a:ext cx="127000" cy="127000"/>
          </a:xfrm>
          <a:prstGeom prst="ellipse">
            <a:avLst/>
          </a:prstGeom>
          <a:solidFill>
            <a:srgbClr val="1C1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130" y="1725930"/>
            <a:ext cx="114300" cy="114300"/>
          </a:xfrm>
          <a:prstGeom prst="ellipse">
            <a:avLst/>
          </a:prstGeom>
          <a:solidFill>
            <a:srgbClr val="1C1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46479" y="2509520"/>
            <a:ext cx="101600" cy="101600"/>
          </a:xfrm>
          <a:prstGeom prst="ellipse">
            <a:avLst/>
          </a:prstGeom>
          <a:solidFill>
            <a:srgbClr val="1C1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46479" y="3286760"/>
            <a:ext cx="101600" cy="101600"/>
          </a:xfrm>
          <a:prstGeom prst="ellipse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52830" y="4070350"/>
            <a:ext cx="88900" cy="88900"/>
          </a:xfrm>
          <a:prstGeom prst="ellipse">
            <a:avLst/>
          </a:prstGeom>
          <a:noFill/>
          <a:ln w="11430">
            <a:solidFill>
              <a:srgbClr val="1C1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9180" y="4853939"/>
            <a:ext cx="76200" cy="76200"/>
          </a:xfrm>
          <a:prstGeom prst="ellipse">
            <a:avLst/>
          </a:prstGeom>
          <a:noFill/>
          <a:ln w="11430">
            <a:solidFill>
              <a:srgbClr val="B7B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71880" y="5643880"/>
            <a:ext cx="50800" cy="50800"/>
          </a:xfrm>
          <a:prstGeom prst="ellipse">
            <a:avLst/>
          </a:prstGeom>
          <a:solidFill>
            <a:srgbClr val="C2B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1097280" y="1087628"/>
            <a:ext cx="0" cy="620014"/>
          </a:xfrm>
          <a:prstGeom prst="line">
            <a:avLst/>
          </a:prstGeom>
          <a:ln w="9525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97280" y="1858518"/>
            <a:ext cx="0" cy="632714"/>
          </a:xfrm>
          <a:prstGeom prst="line">
            <a:avLst/>
          </a:prstGeom>
          <a:ln w="9525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097280" y="2629407"/>
            <a:ext cx="0" cy="639065"/>
          </a:xfrm>
          <a:prstGeom prst="line">
            <a:avLst/>
          </a:prstGeom>
          <a:ln w="9525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97280" y="3406647"/>
            <a:ext cx="0" cy="645415"/>
          </a:xfrm>
          <a:prstGeom prst="line">
            <a:avLst/>
          </a:prstGeom>
          <a:ln w="9525">
            <a:solidFill>
              <a:srgbClr val="756F6A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7280" y="4177537"/>
            <a:ext cx="0" cy="658115"/>
          </a:xfrm>
          <a:prstGeom prst="line">
            <a:avLst/>
          </a:prstGeom>
          <a:ln w="9525">
            <a:solidFill>
              <a:srgbClr val="756F6A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097280" y="4948428"/>
            <a:ext cx="0" cy="677164"/>
          </a:xfrm>
          <a:prstGeom prst="line">
            <a:avLst/>
          </a:prstGeom>
          <a:ln w="9525">
            <a:solidFill>
              <a:srgbClr val="756F6A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298448" y="896112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spc="60">
                <a:solidFill>
                  <a:srgbClr val="5A4A3A"/>
                </a:solidFill>
                <a:latin typeface="JetBrains Mono Light"/>
              </a:rPr>
              <a:t>ustaad, b. 1953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1673352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spc="60">
                <a:solidFill>
                  <a:srgbClr val="5A4A3A"/>
                </a:solidFill>
                <a:latin typeface="JetBrains Mono Light"/>
              </a:rPr>
              <a:t>son, taxi driver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2450591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spc="60">
                <a:solidFill>
                  <a:srgbClr val="5A4A3A"/>
                </a:solidFill>
                <a:latin typeface="JetBrains Mono Light"/>
              </a:rPr>
              <a:t>nephew, learning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8448" y="3227832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spc="60">
                <a:solidFill>
                  <a:srgbClr val="5A4A3A"/>
                </a:solidFill>
                <a:latin typeface="JetBrains Mono Light"/>
              </a:rPr>
              <a:t>grandson, exam prep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98448" y="4005072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spc="60">
                <a:solidFill>
                  <a:srgbClr val="5A4A3A"/>
                </a:solidFill>
                <a:latin typeface="JetBrains Mono Light"/>
              </a:rPr>
              <a:t>no apprentice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8448" y="4782312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spc="60">
                <a:solidFill>
                  <a:srgbClr val="5A4A3A"/>
                </a:solidFill>
                <a:latin typeface="JetBrains Mono Light"/>
              </a:rPr>
              <a:t>no apprentice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98448" y="5559552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spc="60">
                <a:solidFill>
                  <a:srgbClr val="5A4A3A"/>
                </a:solidFill>
                <a:latin typeface="JetBrains Mono Light"/>
              </a:rPr>
              <a:t>silence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54335" y="1874519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2800" b="0" i="0">
                <a:solidFill>
                  <a:srgbClr val="5A4A3A"/>
                </a:solidFill>
                <a:latin typeface="JetBrains Mono Light"/>
              </a:rPr>
              <a:t>yrs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914400"/>
            <a:ext cx="5196535" cy="2194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4000" b="0" i="0">
                <a:solidFill>
                  <a:srgbClr val="1C1410"/>
                </a:solidFill>
                <a:latin typeface="JetBrains Mono Light"/>
              </a:rPr>
              <a:t>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3246120"/>
            <a:ext cx="643097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400" b="1" i="0">
                <a:solidFill>
                  <a:srgbClr val="1C1410"/>
                </a:solidFill>
                <a:latin typeface="JetBrains Mono"/>
              </a:rPr>
              <a:t>median time a kashmiri craft survives without an apprentice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0640" y="3703320"/>
            <a:ext cx="6430975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40000"/>
              </a:lnSpc>
            </a:pPr>
            <a:r>
              <a:rPr sz="1100" b="0" i="0">
                <a:solidFill>
                  <a:srgbClr val="1C1410"/>
                </a:solidFill>
                <a:latin typeface="JetBrains Mono"/>
              </a:rPr>
              <a:t>talking to ten thousand workshops in the valley</a:t>
            </a:r>
          </a:p>
          <a:p>
            <a:pPr algn="r">
              <a:lnSpc>
                <a:spcPct val="140000"/>
              </a:lnSpc>
            </a:pPr>
            <a:r>
              <a:rPr sz="1100" b="0" i="0">
                <a:solidFill>
                  <a:srgbClr val="1C1410"/>
                </a:solidFill>
                <a:latin typeface="JetBrains Mono"/>
              </a:rPr>
              <a:t>is not a sentimental project. it is a deadline.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74175" y="4617720"/>
            <a:ext cx="2377440" cy="0"/>
          </a:xfrm>
          <a:prstGeom prst="line">
            <a:avLst/>
          </a:prstGeom>
          <a:ln w="1524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11094415" y="635508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800" b="0" i="0" spc="120">
                <a:solidFill>
                  <a:srgbClr val="A19C98"/>
                </a:solidFill>
                <a:latin typeface="JetBrains Mono Light"/>
              </a:rPr>
              <a:t>hunarmand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94415" y="6565392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800" b="0" i="0" spc="120">
                <a:solidFill>
                  <a:srgbClr val="A19C98"/>
                </a:solidFill>
                <a:latin typeface="JetBrains Mono Light"/>
              </a:rPr>
              <a:t>02 / 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spc="120">
                <a:solidFill>
                  <a:srgbClr val="5A4A3A"/>
                </a:solidFill>
                <a:latin typeface="JetBrains Mono Light"/>
              </a:rPr>
              <a:t>solution / four interlocking layers, anchored on cryptographic provenance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156572" y="1302888"/>
            <a:ext cx="2612756" cy="1001557"/>
          </a:xfrm>
          <a:prstGeom prst="line">
            <a:avLst/>
          </a:prstGeom>
          <a:ln w="1143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911631" y="2358994"/>
            <a:ext cx="2612756" cy="1001557"/>
          </a:xfrm>
          <a:prstGeom prst="line">
            <a:avLst/>
          </a:prstGeom>
          <a:ln w="1143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642972" y="3406008"/>
            <a:ext cx="2624615" cy="1006103"/>
          </a:xfrm>
          <a:prstGeom prst="line">
            <a:avLst/>
          </a:prstGeom>
          <a:ln w="1143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33780" y="1216660"/>
            <a:ext cx="127000" cy="127000"/>
          </a:xfrm>
          <a:prstGeom prst="ellipse">
            <a:avLst/>
          </a:prstGeom>
          <a:solidFill>
            <a:srgbClr val="1C1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61948" y="987551"/>
            <a:ext cx="10281107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1C1410"/>
                </a:solidFill>
                <a:latin typeface="JetBrains Mono"/>
              </a:rPr>
              <a:t>vault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61948" y="1243584"/>
            <a:ext cx="10281107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60">
                <a:solidFill>
                  <a:srgbClr val="5A4A3A"/>
                </a:solidFill>
                <a:latin typeface="JetBrains Mono Light"/>
              </a:rPr>
              <a:t>captures what the master never wrote down</a:t>
            </a:r>
          </a:p>
        </p:txBody>
      </p:sp>
      <p:sp>
        <p:nvSpPr>
          <p:cNvPr id="10" name="Oval 9"/>
          <p:cNvSpPr/>
          <p:nvPr/>
        </p:nvSpPr>
        <p:spPr>
          <a:xfrm>
            <a:off x="3764280" y="2255519"/>
            <a:ext cx="152400" cy="152400"/>
          </a:xfrm>
          <a:prstGeom prst="ellipse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7847" y="2039112"/>
            <a:ext cx="7525207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1C1410"/>
                </a:solidFill>
                <a:latin typeface="JetBrains Mono"/>
              </a:rPr>
              <a:t>sanad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7847" y="2295144"/>
            <a:ext cx="7525207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60">
                <a:solidFill>
                  <a:srgbClr val="5A4A3A"/>
                </a:solidFill>
                <a:latin typeface="JetBrains Mono Light"/>
              </a:rPr>
              <a:t>signs the piece against the master's own keypair</a:t>
            </a:r>
          </a:p>
        </p:txBody>
      </p:sp>
      <p:sp>
        <p:nvSpPr>
          <p:cNvPr id="13" name="Oval 12"/>
          <p:cNvSpPr/>
          <p:nvPr/>
        </p:nvSpPr>
        <p:spPr>
          <a:xfrm>
            <a:off x="6520180" y="3319780"/>
            <a:ext cx="127000" cy="127000"/>
          </a:xfrm>
          <a:prstGeom prst="ellipse">
            <a:avLst/>
          </a:prstGeom>
          <a:solidFill>
            <a:srgbClr val="1C1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48348" y="3090672"/>
            <a:ext cx="4794707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1C1410"/>
                </a:solidFill>
                <a:latin typeface="JetBrains Mono"/>
              </a:rPr>
              <a:t>ustaad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48348" y="3346704"/>
            <a:ext cx="4794707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60">
                <a:solidFill>
                  <a:srgbClr val="5A4A3A"/>
                </a:solidFill>
                <a:latin typeface="JetBrains Mono Light"/>
              </a:rPr>
              <a:t>sells the master's time, not the middleman's</a:t>
            </a:r>
          </a:p>
        </p:txBody>
      </p:sp>
      <p:sp>
        <p:nvSpPr>
          <p:cNvPr id="16" name="Oval 15"/>
          <p:cNvSpPr/>
          <p:nvPr/>
        </p:nvSpPr>
        <p:spPr>
          <a:xfrm>
            <a:off x="9263380" y="4371339"/>
            <a:ext cx="127000" cy="127000"/>
          </a:xfrm>
          <a:prstGeom prst="ellipse">
            <a:avLst/>
          </a:prstGeom>
          <a:solidFill>
            <a:srgbClr val="1C1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91548" y="4142231"/>
            <a:ext cx="2051507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1C1410"/>
                </a:solidFill>
                <a:latin typeface="JetBrains Mono"/>
              </a:rPr>
              <a:t>bazaar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91548" y="4398264"/>
            <a:ext cx="2051507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60">
                <a:solidFill>
                  <a:srgbClr val="5A4A3A"/>
                </a:solidFill>
                <a:latin typeface="JetBrains Mono Light"/>
              </a:rPr>
              <a:t>sells the object with provenance attached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961120" y="777240"/>
            <a:ext cx="1280160" cy="0"/>
          </a:xfrm>
          <a:prstGeom prst="line">
            <a:avLst/>
          </a:prstGeom>
          <a:ln w="1270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961120" y="850392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 i="0">
                <a:solidFill>
                  <a:srgbClr val="1C1410"/>
                </a:solidFill>
                <a:latin typeface="JetBrains Mono"/>
              </a:rPr>
              <a:t>the keystone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1106424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900" b="0" i="0" spc="60">
                <a:solidFill>
                  <a:srgbClr val="5A4A3A"/>
                </a:solidFill>
                <a:latin typeface="JetBrains Mono Light"/>
              </a:rPr>
              <a:t>ed25519 + rfc 8785 jcs.</a:t>
            </a:r>
          </a:p>
          <a:p>
            <a:pPr algn="l">
              <a:lnSpc>
                <a:spcPct val="150000"/>
              </a:lnSpc>
            </a:pPr>
            <a:r>
              <a:rPr sz="900" b="0" i="0" spc="60">
                <a:solidFill>
                  <a:srgbClr val="5A4A3A"/>
                </a:solidFill>
                <a:latin typeface="JetBrains Mono Light"/>
              </a:rPr>
              <a:t>a counterfeit shawl can be made.</a:t>
            </a:r>
          </a:p>
          <a:p>
            <a:pPr algn="l">
              <a:lnSpc>
                <a:spcPct val="150000"/>
              </a:lnSpc>
            </a:pPr>
            <a:r>
              <a:rPr sz="900" b="0" i="0" spc="60">
                <a:solidFill>
                  <a:srgbClr val="5A4A3A"/>
                </a:solidFill>
                <a:latin typeface="JetBrains Mono Light"/>
              </a:rPr>
              <a:t>a sanad signed by mohammad yusuf cannot.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4005072" y="1874519"/>
            <a:ext cx="5047488" cy="347472"/>
          </a:xfrm>
          <a:prstGeom prst="line">
            <a:avLst/>
          </a:prstGeom>
          <a:ln w="6350">
            <a:solidFill>
              <a:srgbClr val="B7B3AE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4965192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1" i="0">
                <a:solidFill>
                  <a:srgbClr val="1C1410"/>
                </a:solidFill>
                <a:latin typeface="JetBrains Mono"/>
              </a:rPr>
              <a:t>today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45920" y="4937760"/>
            <a:ext cx="6419088" cy="256032"/>
          </a:xfrm>
          <a:prstGeom prst="rect">
            <a:avLst/>
          </a:prstGeom>
          <a:solidFill>
            <a:srgbClr val="1C1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65008" y="4937760"/>
            <a:ext cx="1810511" cy="256032"/>
          </a:xfrm>
          <a:prstGeom prst="rect">
            <a:avLst/>
          </a:prstGeom>
          <a:solidFill>
            <a:srgbClr val="C2B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91640" y="5230368"/>
            <a:ext cx="6419088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spc="60">
                <a:solidFill>
                  <a:srgbClr val="5A4A3A"/>
                </a:solidFill>
                <a:latin typeface="JetBrains Mono Light"/>
              </a:rPr>
              <a:t>middleman chain  ·  70 to 85 percent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10728" y="5230368"/>
            <a:ext cx="3273551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spc="60">
                <a:solidFill>
                  <a:srgbClr val="5A4A3A"/>
                </a:solidFill>
                <a:latin typeface="JetBrains Mono Light"/>
              </a:rPr>
              <a:t>artisan  ·  15 to 30 percent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632704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1" i="0">
                <a:solidFill>
                  <a:srgbClr val="8B1A1A"/>
                </a:solidFill>
                <a:latin typeface="JetBrains Mono"/>
              </a:rPr>
              <a:t>hunarmand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645920" y="5605272"/>
            <a:ext cx="658368" cy="256032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304288" y="5605272"/>
            <a:ext cx="7571231" cy="256032"/>
          </a:xfrm>
          <a:prstGeom prst="rect">
            <a:avLst/>
          </a:prstGeom>
          <a:solidFill>
            <a:srgbClr val="1C1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2879" y="5897880"/>
            <a:ext cx="2075688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 spc="60">
                <a:solidFill>
                  <a:srgbClr val="5A4A3A"/>
                </a:solidFill>
                <a:latin typeface="JetBrains Mono Light"/>
              </a:rPr>
              <a:t>platform  ·  6 to 9 percent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41448" y="5897880"/>
            <a:ext cx="7571231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spc="60">
                <a:solidFill>
                  <a:srgbClr val="5A4A3A"/>
                </a:solidFill>
                <a:latin typeface="JetBrains Mono Light"/>
              </a:rPr>
              <a:t>artisan  ·  91 to 94 percent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94415" y="635508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800" b="0" i="0" spc="120">
                <a:solidFill>
                  <a:srgbClr val="A19C98"/>
                </a:solidFill>
                <a:latin typeface="JetBrains Mono Light"/>
              </a:rPr>
              <a:t>hunarmand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94415" y="6565392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800" b="0" i="0" spc="120">
                <a:solidFill>
                  <a:srgbClr val="A19C98"/>
                </a:solidFill>
                <a:latin typeface="JetBrains Mono Light"/>
              </a:rPr>
              <a:t>03 / 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spc="120">
                <a:solidFill>
                  <a:srgbClr val="5A4A3A"/>
                </a:solidFill>
                <a:latin typeface="JetBrains Mono Light"/>
              </a:rPr>
              <a:t>methodology / how tacit knowledge becomes infrastructure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163988" y="1050692"/>
            <a:ext cx="145501" cy="129610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291928" y="1184695"/>
            <a:ext cx="113596" cy="214812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53515" y="1523407"/>
            <a:ext cx="113467" cy="115432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83782" y="1671413"/>
            <a:ext cx="118733" cy="167104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75092" y="2008811"/>
            <a:ext cx="128996" cy="109610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324143" y="2078669"/>
            <a:ext cx="44783" cy="221296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57420" y="2420478"/>
            <a:ext cx="127018" cy="185827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265948" y="2570115"/>
            <a:ext cx="113016" cy="192349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172178" y="2874660"/>
            <a:ext cx="94053" cy="144210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302500" y="3017457"/>
            <a:ext cx="91313" cy="215851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168719" y="3344862"/>
            <a:ext cx="151263" cy="167274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270584" y="3484055"/>
            <a:ext cx="113580" cy="224988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20039" y="71323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spc="60">
                <a:solidFill>
                  <a:srgbClr val="5A4A3A"/>
                </a:solidFill>
                <a:latin typeface="JetBrains Mono Light"/>
              </a:rPr>
              <a:t>talim,  kanihama,  c. 1820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371600" y="3657599"/>
            <a:ext cx="1005840" cy="777241"/>
          </a:xfrm>
          <a:prstGeom prst="line">
            <a:avLst/>
          </a:prstGeom>
          <a:ln w="1270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4526280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400" b="1" i="0">
                <a:solidFill>
                  <a:srgbClr val="1C1410"/>
                </a:solidFill>
                <a:latin typeface="JetBrains Mono"/>
              </a:rPr>
              <a:t>twelve hours of speech.</a:t>
            </a:r>
          </a:p>
          <a:p>
            <a:pPr algn="l">
              <a:lnSpc>
                <a:spcPct val="140000"/>
              </a:lnSpc>
            </a:pPr>
            <a:r>
              <a:rPr sz="1400" b="1" i="0">
                <a:solidFill>
                  <a:srgbClr val="1C1410"/>
                </a:solidFill>
                <a:latin typeface="JetBrains Mono"/>
              </a:rPr>
              <a:t>four hundred fields.</a:t>
            </a:r>
          </a:p>
          <a:p>
            <a:pPr algn="l">
              <a:lnSpc>
                <a:spcPct val="140000"/>
              </a:lnSpc>
            </a:pPr>
            <a:r>
              <a:rPr sz="1400" b="1" i="0">
                <a:solidFill>
                  <a:srgbClr val="1C1410"/>
                </a:solidFill>
                <a:latin typeface="JetBrains Mono"/>
              </a:rPr>
              <a:t>one signed artefact.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48640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5A4A3A"/>
                </a:solidFill>
                <a:latin typeface="JetBrains Mono Light"/>
              </a:rPr>
              <a:t>the master's tacit knowledge,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5A4A3A"/>
                </a:solidFill>
                <a:latin typeface="JetBrains Mono Light"/>
              </a:rPr>
              <a:t>structured under their own keypair,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5A4A3A"/>
                </a:solidFill>
                <a:latin typeface="JetBrains Mono Light"/>
              </a:rPr>
              <a:t>owned by the master in perpetuity.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96012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600" b="0" i="0">
                <a:solidFill>
                  <a:srgbClr val="9A8F84"/>
                </a:solidFill>
                <a:latin typeface="JetBrains Mono Light"/>
              </a:rPr>
              <a:t>01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766560" y="1051560"/>
            <a:ext cx="4876495" cy="0"/>
          </a:xfrm>
          <a:prstGeom prst="line">
            <a:avLst/>
          </a:prstGeom>
          <a:ln w="6350">
            <a:solidFill>
              <a:srgbClr val="D4C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12280" y="1124712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1" i="0">
                <a:solidFill>
                  <a:srgbClr val="1C1410"/>
                </a:solidFill>
                <a:latin typeface="JetBrains Mono"/>
              </a:rPr>
              <a:t>session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1380744"/>
            <a:ext cx="4876495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60">
                <a:solidFill>
                  <a:srgbClr val="5A4A3A"/>
                </a:solidFill>
                <a:latin typeface="JetBrains Mono Light"/>
              </a:rPr>
              <a:t>master in own workshop, interview led in koshur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182880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600" b="0" i="0">
                <a:solidFill>
                  <a:srgbClr val="9A8F84"/>
                </a:solidFill>
                <a:latin typeface="JetBrains Mono Light"/>
              </a:rPr>
              <a:t>02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766560" y="1920240"/>
            <a:ext cx="4876495" cy="0"/>
          </a:xfrm>
          <a:prstGeom prst="line">
            <a:avLst/>
          </a:prstGeom>
          <a:ln w="6350">
            <a:solidFill>
              <a:srgbClr val="D4C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12280" y="1993392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1" i="0">
                <a:solidFill>
                  <a:srgbClr val="1C1410"/>
                </a:solidFill>
                <a:latin typeface="JetBrains Mono"/>
              </a:rPr>
              <a:t>transcribe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80" y="2249424"/>
            <a:ext cx="4876495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60">
                <a:solidFill>
                  <a:srgbClr val="5A4A3A"/>
                </a:solidFill>
                <a:latin typeface="JetBrains Mono Light"/>
              </a:rPr>
              <a:t>bhashini  &gt;  ai4bharat  &gt;  groq  &gt;  whisper, ladder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60" y="269748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600" b="0" i="0">
                <a:solidFill>
                  <a:srgbClr val="9A8F84"/>
                </a:solidFill>
                <a:latin typeface="JetBrains Mono Light"/>
              </a:rPr>
              <a:t>03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766560" y="2788920"/>
            <a:ext cx="4876495" cy="0"/>
          </a:xfrm>
          <a:prstGeom prst="line">
            <a:avLst/>
          </a:prstGeom>
          <a:ln w="6350">
            <a:solidFill>
              <a:srgbClr val="D4C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812280" y="2862072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1" i="0">
                <a:solidFill>
                  <a:srgbClr val="1C1410"/>
                </a:solidFill>
                <a:latin typeface="JetBrains Mono"/>
              </a:rPr>
              <a:t>extract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12280" y="3118104"/>
            <a:ext cx="4876495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60">
                <a:solidFill>
                  <a:srgbClr val="5A4A3A"/>
                </a:solidFill>
                <a:latin typeface="JetBrains Mono Light"/>
              </a:rPr>
              <a:t>multi-pass llm, strict json schema, repair loop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52160" y="3566159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600" b="0" i="0">
                <a:solidFill>
                  <a:srgbClr val="9A8F84"/>
                </a:solidFill>
                <a:latin typeface="JetBrains Mono Light"/>
              </a:rPr>
              <a:t>04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766560" y="3657599"/>
            <a:ext cx="4876495" cy="0"/>
          </a:xfrm>
          <a:prstGeom prst="line">
            <a:avLst/>
          </a:prstGeom>
          <a:ln w="6350">
            <a:solidFill>
              <a:srgbClr val="D4C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812280" y="3730751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1" i="0">
                <a:solidFill>
                  <a:srgbClr val="1C1410"/>
                </a:solidFill>
                <a:latin typeface="JetBrains Mono"/>
              </a:rPr>
              <a:t>sign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12280" y="3986783"/>
            <a:ext cx="4876495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60">
                <a:solidFill>
                  <a:srgbClr val="5A4A3A"/>
                </a:solidFill>
                <a:latin typeface="JetBrains Mono Light"/>
              </a:rPr>
              <a:t>ed25519 over rfc 8785 jcs, one keypair per master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52160" y="443484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600" b="0" i="0">
                <a:solidFill>
                  <a:srgbClr val="9A8F84"/>
                </a:solidFill>
                <a:latin typeface="JetBrains Mono Light"/>
              </a:rPr>
              <a:t>05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766560" y="4526279"/>
            <a:ext cx="4876495" cy="0"/>
          </a:xfrm>
          <a:prstGeom prst="line">
            <a:avLst/>
          </a:prstGeom>
          <a:ln w="6350">
            <a:solidFill>
              <a:srgbClr val="D4C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812280" y="4599431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1" i="0">
                <a:solidFill>
                  <a:srgbClr val="1C1410"/>
                </a:solidFill>
                <a:latin typeface="JetBrains Mono"/>
              </a:rPr>
              <a:t>index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12280" y="4855464"/>
            <a:ext cx="4876495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60">
                <a:solidFill>
                  <a:srgbClr val="5A4A3A"/>
                </a:solidFill>
                <a:latin typeface="JetBrains Mono Light"/>
              </a:rPr>
              <a:t>pgvector embeddings, public api in under a second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94415" y="635508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800" b="0" i="0" spc="120">
                <a:solidFill>
                  <a:srgbClr val="A19C98"/>
                </a:solidFill>
                <a:latin typeface="JetBrains Mono Light"/>
              </a:rPr>
              <a:t>hunarmand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94415" y="6565392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800" b="0" i="0" spc="120">
                <a:solidFill>
                  <a:srgbClr val="A19C98"/>
                </a:solidFill>
                <a:latin typeface="JetBrains Mono Light"/>
              </a:rPr>
              <a:t>04 / 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spc="120">
                <a:solidFill>
                  <a:srgbClr val="5A4A3A"/>
                </a:solidFill>
                <a:latin typeface="JetBrains Mono Light"/>
              </a:rPr>
              <a:t>technology / deployed today, free tier, queryable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 i="0" spc="60">
                <a:solidFill>
                  <a:srgbClr val="1C1410"/>
                </a:solidFill>
                <a:latin typeface="JetBrains Mono"/>
              </a:rPr>
              <a:t>frontend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18288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>
                <a:solidFill>
                  <a:srgbClr val="A19C98"/>
                </a:solidFill>
                <a:latin typeface="JetBrains Mono Light"/>
              </a:rPr>
              <a:t>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31720" y="1005840"/>
            <a:ext cx="68580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>
                <a:solidFill>
                  <a:srgbClr val="5A4A3A"/>
                </a:solidFill>
                <a:latin typeface="JetBrains Mono Light"/>
              </a:rPr>
              <a:t>next.js 16  ·  vercel  ·  hunarmand.sal.lol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89888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 i="0" spc="60">
                <a:solidFill>
                  <a:srgbClr val="1C1410"/>
                </a:solidFill>
                <a:latin typeface="JetBrains Mono"/>
              </a:rPr>
              <a:t>backend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1389888"/>
            <a:ext cx="18288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>
                <a:solidFill>
                  <a:srgbClr val="A19C98"/>
                </a:solidFill>
                <a:latin typeface="JetBrains Mono Light"/>
              </a:rPr>
              <a:t>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1720" y="1389888"/>
            <a:ext cx="68580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>
                <a:solidFill>
                  <a:srgbClr val="5A4A3A"/>
                </a:solidFill>
                <a:latin typeface="JetBrains Mono Light"/>
              </a:rPr>
              <a:t>fastapi  ·  render  ·  alembic on every deploy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773936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 i="0" spc="60">
                <a:solidFill>
                  <a:srgbClr val="1C1410"/>
                </a:solidFill>
                <a:latin typeface="JetBrains Mono"/>
              </a:rPr>
              <a:t>ai 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1773936"/>
            <a:ext cx="18288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>
                <a:solidFill>
                  <a:srgbClr val="A19C98"/>
                </a:solidFill>
                <a:latin typeface="JetBrains Mono Light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1773936"/>
            <a:ext cx="68580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>
                <a:solidFill>
                  <a:srgbClr val="5A4A3A"/>
                </a:solidFill>
                <a:latin typeface="JetBrains Mono Light"/>
              </a:rPr>
              <a:t>fastapi  ·  hugging face spaces  ·  ed25519 sanad service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57984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 i="0" spc="60">
                <a:solidFill>
                  <a:srgbClr val="1C1410"/>
                </a:solidFill>
                <a:latin typeface="JetBrains Mono"/>
              </a:rPr>
              <a:t>postgres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2157984"/>
            <a:ext cx="18288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>
                <a:solidFill>
                  <a:srgbClr val="A19C98"/>
                </a:solidFill>
                <a:latin typeface="JetBrains Mono Light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2157984"/>
            <a:ext cx="68580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>
                <a:solidFill>
                  <a:srgbClr val="5A4A3A"/>
                </a:solidFill>
                <a:latin typeface="JetBrains Mono Light"/>
              </a:rPr>
              <a:t>neon  ·  pgvector  ·  shared between backend + ai 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542032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 i="0" spc="60">
                <a:solidFill>
                  <a:srgbClr val="1C1410"/>
                </a:solidFill>
                <a:latin typeface="JetBrains Mono"/>
              </a:rPr>
              <a:t>asr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2542032"/>
            <a:ext cx="18288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>
                <a:solidFill>
                  <a:srgbClr val="A19C98"/>
                </a:solidFill>
                <a:latin typeface="JetBrains Mono Light"/>
              </a:rPr>
              <a:t>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2542032"/>
            <a:ext cx="68580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>
                <a:solidFill>
                  <a:srgbClr val="5A4A3A"/>
                </a:solidFill>
                <a:latin typeface="JetBrains Mono Light"/>
              </a:rPr>
              <a:t>bhashini  &gt;  ai4bharat  &gt;  groq  &gt;  hf inference  &gt;  whisper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2926080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 i="0" spc="60">
                <a:solidFill>
                  <a:srgbClr val="1C1410"/>
                </a:solidFill>
                <a:latin typeface="JetBrains Mono"/>
              </a:rPr>
              <a:t>llm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2926080"/>
            <a:ext cx="18288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>
                <a:solidFill>
                  <a:srgbClr val="A19C98"/>
                </a:solidFill>
                <a:latin typeface="JetBrains Mono Light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2926080"/>
            <a:ext cx="68580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>
                <a:solidFill>
                  <a:srgbClr val="5A4A3A"/>
                </a:solidFill>
                <a:latin typeface="JetBrains Mono Light"/>
              </a:rPr>
              <a:t>openrouter  ·  free + premium models behind one interface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310128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 i="0" spc="60">
                <a:solidFill>
                  <a:srgbClr val="1C1410"/>
                </a:solidFill>
                <a:latin typeface="JetBrains Mono"/>
              </a:rPr>
              <a:t>embeddings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3310128"/>
            <a:ext cx="18288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>
                <a:solidFill>
                  <a:srgbClr val="A19C98"/>
                </a:solidFill>
                <a:latin typeface="JetBrains Mono Light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3310128"/>
            <a:ext cx="68580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>
                <a:solidFill>
                  <a:srgbClr val="5A4A3A"/>
                </a:solidFill>
                <a:latin typeface="JetBrains Mono Light"/>
              </a:rPr>
              <a:t>sentence-transformers  ·  intfloat / multilingual-e5-small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694176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 i="0" spc="60">
                <a:solidFill>
                  <a:srgbClr val="1C1410"/>
                </a:solidFill>
                <a:latin typeface="JetBrains Mono"/>
              </a:rPr>
              <a:t>signature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3694176"/>
            <a:ext cx="18288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>
                <a:solidFill>
                  <a:srgbClr val="A19C98"/>
                </a:solidFill>
                <a:latin typeface="JetBrains Mono Light"/>
              </a:rPr>
              <a:t>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3694176"/>
            <a:ext cx="68580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>
                <a:solidFill>
                  <a:srgbClr val="5A4A3A"/>
                </a:solidFill>
                <a:latin typeface="JetBrains Mono Light"/>
              </a:rPr>
              <a:t>ed25519 over rfc 8785 jcs  ·  jws-compact qr  ·  offline verify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306824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>
                <a:solidFill>
                  <a:srgbClr val="1C1410"/>
                </a:solidFill>
                <a:latin typeface="JetBrains Mono"/>
              </a:rPr>
              <a:t>every dependency above is on a free tier today.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0" y="1005840"/>
            <a:ext cx="228600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6400" b="0" i="0">
                <a:solidFill>
                  <a:srgbClr val="1C1410"/>
                </a:solidFill>
                <a:latin typeface="JetBrains Mono Light"/>
              </a:rPr>
              <a:t>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09760" y="1874519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 i="0" spc="60">
                <a:solidFill>
                  <a:srgbClr val="5A4A3A"/>
                </a:solidFill>
                <a:latin typeface="JetBrains Mono Light"/>
              </a:rPr>
              <a:t>seeded</a:t>
            </a:r>
          </a:p>
          <a:p>
            <a:pPr algn="l">
              <a:lnSpc>
                <a:spcPct val="140000"/>
              </a:lnSpc>
            </a:pPr>
            <a:r>
              <a:rPr sz="900" b="0" i="0" spc="60">
                <a:solidFill>
                  <a:srgbClr val="5A4A3A"/>
                </a:solidFill>
                <a:latin typeface="JetBrains Mono Light"/>
              </a:rPr>
              <a:t>artisan masters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09760" y="2423160"/>
            <a:ext cx="228600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6400" b="0" i="0">
                <a:solidFill>
                  <a:srgbClr val="1C1410"/>
                </a:solidFill>
                <a:latin typeface="JetBrains Mono Light"/>
              </a:rPr>
              <a:t>54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09760" y="329184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 i="0" spc="60">
                <a:solidFill>
                  <a:srgbClr val="5A4A3A"/>
                </a:solidFill>
                <a:latin typeface="JetBrains Mono Light"/>
              </a:rPr>
              <a:t>bookable</a:t>
            </a:r>
          </a:p>
          <a:p>
            <a:pPr algn="l">
              <a:lnSpc>
                <a:spcPct val="140000"/>
              </a:lnSpc>
            </a:pPr>
            <a:r>
              <a:rPr sz="900" b="0" i="0" spc="60">
                <a:solidFill>
                  <a:srgbClr val="5A4A3A"/>
                </a:solidFill>
                <a:latin typeface="JetBrains Mono Light"/>
              </a:rPr>
              <a:t>workshops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09760" y="3840480"/>
            <a:ext cx="228600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6400" b="0" i="0">
                <a:solidFill>
                  <a:srgbClr val="1C1410"/>
                </a:solidFill>
                <a:latin typeface="JetBrains Mono Light"/>
              </a:rPr>
              <a:t>2.8s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09760" y="470916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 i="0" spc="60">
                <a:solidFill>
                  <a:srgbClr val="5A4A3A"/>
                </a:solidFill>
                <a:latin typeface="JetBrains Mono Light"/>
              </a:rPr>
              <a:t>median latency,</a:t>
            </a:r>
          </a:p>
          <a:p>
            <a:pPr algn="l">
              <a:lnSpc>
                <a:spcPct val="140000"/>
              </a:lnSpc>
            </a:pPr>
            <a:r>
              <a:rPr sz="900" b="0" i="0" spc="60">
                <a:solidFill>
                  <a:srgbClr val="5A4A3A"/>
                </a:solidFill>
                <a:latin typeface="JetBrains Mono Light"/>
              </a:rPr>
              <a:t>sign + persist</a:t>
            </a:r>
          </a:p>
        </p:txBody>
      </p:sp>
      <p:sp>
        <p:nvSpPr>
          <p:cNvPr id="35" name="Oval 34"/>
          <p:cNvSpPr/>
          <p:nvPr/>
        </p:nvSpPr>
        <p:spPr>
          <a:xfrm>
            <a:off x="589279" y="6130544"/>
            <a:ext cx="101600" cy="101600"/>
          </a:xfrm>
          <a:prstGeom prst="ellipse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6080760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>
                <a:solidFill>
                  <a:srgbClr val="1C1410"/>
                </a:solidFill>
                <a:latin typeface="JetBrains Mono"/>
              </a:rPr>
              <a:t>every number is queryable from the public api right now.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68680" y="6391656"/>
            <a:ext cx="2194559" cy="0"/>
          </a:xfrm>
          <a:prstGeom prst="line">
            <a:avLst/>
          </a:prstGeom>
          <a:ln w="1143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1094415" y="635508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800" b="0" i="0" spc="120">
                <a:solidFill>
                  <a:srgbClr val="A19C98"/>
                </a:solidFill>
                <a:latin typeface="JetBrains Mono Light"/>
              </a:rPr>
              <a:t>hunarmand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94415" y="6565392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800" b="0" i="0" spc="120">
                <a:solidFill>
                  <a:srgbClr val="A19C98"/>
                </a:solidFill>
                <a:latin typeface="JetBrains Mono Light"/>
              </a:rPr>
              <a:t>05 / 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40280"/>
            <a:ext cx="11277295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800" b="0" i="0">
                <a:solidFill>
                  <a:srgbClr val="756F6A"/>
                </a:solidFill>
                <a:latin typeface="JetBrains Mono Light"/>
              </a:rPr>
              <a:t>we are not bringing foreign technology to kashmir.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953512"/>
            <a:ext cx="11277295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800" b="1" i="0">
                <a:solidFill>
                  <a:srgbClr val="1C1410"/>
                </a:solidFill>
                <a:latin typeface="JetBrains Mono"/>
              </a:rPr>
              <a:t>we are upgrading what kashmir already invented.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55767" y="4050792"/>
            <a:ext cx="1280160" cy="0"/>
          </a:xfrm>
          <a:prstGeom prst="line">
            <a:avLst/>
          </a:prstGeom>
          <a:ln w="1143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0" y="4325112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800" b="1" i="0">
                <a:solidFill>
                  <a:srgbClr val="1C1410"/>
                </a:solidFill>
                <a:latin typeface="JetBrains Mono"/>
              </a:rPr>
              <a:t>hunarmand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764024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900" b="0" i="0" spc="120">
                <a:solidFill>
                  <a:srgbClr val="5A4A3A"/>
                </a:solidFill>
                <a:latin typeface="JetBrains Mono Light"/>
              </a:rPr>
              <a:t>tacit knowledge os, srinagar,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35508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800" b="0" i="0" spc="120">
                <a:solidFill>
                  <a:srgbClr val="A19C98"/>
                </a:solidFill>
                <a:latin typeface="JetBrains Mono Light"/>
              </a:rPr>
              <a:t>hunarmand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565392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800" b="0" i="0" spc="120">
                <a:solidFill>
                  <a:srgbClr val="A19C98"/>
                </a:solidFill>
                <a:latin typeface="JetBrains Mono Light"/>
              </a:rPr>
              <a:t>06 / 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
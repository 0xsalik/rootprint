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5A4A3A"/>
                </a:solidFill>
                <a:latin typeface="JetBrains Mono Light"/>
              </a:rPr>
              <a:t>tacit knowledge 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A19C98"/>
                </a:solidFill>
                <a:latin typeface="JetBrains Mono Light"/>
              </a:rPr>
              <a:t>for kashmiri heritage artisans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14600"/>
            <a:ext cx="786384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400" b="1" i="0">
                <a:solidFill>
                  <a:srgbClr val="1C1410"/>
                </a:solidFill>
                <a:latin typeface="JetBrains Mono"/>
              </a:rPr>
              <a:t>hunarmand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749039"/>
            <a:ext cx="1280160" cy="0"/>
          </a:xfrm>
          <a:prstGeom prst="line">
            <a:avLst/>
          </a:prstGeom>
          <a:ln w="1143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977639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5A4A3A"/>
                </a:solidFill>
                <a:latin typeface="JetBrains Mono Light"/>
              </a:rPr>
              <a:t>we treat what the master never wrote down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5A4A3A"/>
                </a:solidFill>
                <a:latin typeface="JetBrains Mono Light"/>
              </a:rPr>
              <a:t>as captureable, queryable, ownable infrastructure.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608041" y="1484607"/>
            <a:ext cx="169934" cy="156514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738372" y="1628653"/>
            <a:ext cx="119000" cy="221483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614533" y="2000321"/>
            <a:ext cx="102719" cy="131851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707855" y="2145799"/>
            <a:ext cx="126256" cy="177171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627419" y="2512666"/>
            <a:ext cx="130783" cy="145261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712744" y="2597856"/>
            <a:ext cx="128913" cy="229165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598452" y="2975929"/>
            <a:ext cx="114115" cy="173826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733448" y="3153738"/>
            <a:ext cx="108632" cy="213375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609774" y="3501920"/>
            <a:ext cx="134047" cy="137166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774203" y="3666468"/>
            <a:ext cx="53197" cy="207887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603026" y="3981096"/>
            <a:ext cx="128485" cy="145698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757278" y="4131284"/>
            <a:ext cx="69831" cy="225425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626536" y="4517902"/>
            <a:ext cx="83871" cy="122017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767811" y="4638658"/>
            <a:ext cx="53182" cy="221670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534095" y="1965960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5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talim, kanihama,</a:t>
            </a:r>
          </a:p>
          <a:p>
            <a:pPr algn="r">
              <a:lnSpc>
                <a:spcPct val="15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c. 1820.  the script</a:t>
            </a:r>
          </a:p>
          <a:p>
            <a:pPr algn="r">
              <a:lnSpc>
                <a:spcPct val="15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the master kept.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521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1C1410"/>
                </a:solidFill>
                <a:latin typeface="JetBrains Mono"/>
              </a:rPr>
              <a:t>bitwise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163056"/>
            <a:ext cx="640079" cy="0"/>
          </a:xfrm>
          <a:prstGeom prst="line">
            <a:avLst/>
          </a:prstGeom>
          <a:ln w="11430">
            <a:solidFill>
              <a:srgbClr val="C897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23620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srinagar  ·  2026  ·  v 0.1 hackathon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22415" y="623620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neon pgvector  ·  hf spaces  ·  render  ·  vercel</a:t>
            </a:r>
          </a:p>
        </p:txBody>
      </p:sp>
      <p:sp>
        <p:nvSpPr>
          <p:cNvPr id="27" name="Oval 26"/>
          <p:cNvSpPr/>
          <p:nvPr/>
        </p:nvSpPr>
        <p:spPr>
          <a:xfrm>
            <a:off x="11637975" y="5435600"/>
            <a:ext cx="101600" cy="101600"/>
          </a:xfrm>
          <a:prstGeom prst="ellipse">
            <a:avLst/>
          </a:prstGeom>
          <a:solidFill>
            <a:srgbClr val="C89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loss / kashmiri heritage crafts / 2026</a:t>
            </a:r>
          </a:p>
        </p:txBody>
      </p:sp>
      <p:sp>
        <p:nvSpPr>
          <p:cNvPr id="4" name="Oval 3"/>
          <p:cNvSpPr/>
          <p:nvPr/>
        </p:nvSpPr>
        <p:spPr>
          <a:xfrm>
            <a:off x="1033780" y="942340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130" y="1725930"/>
            <a:ext cx="114300" cy="1143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6479" y="2509520"/>
            <a:ext cx="101600" cy="1016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6479" y="3286760"/>
            <a:ext cx="101600" cy="101600"/>
          </a:xfrm>
          <a:prstGeom prst="ellipse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2830" y="4070350"/>
            <a:ext cx="88900" cy="88900"/>
          </a:xfrm>
          <a:prstGeom prst="ellipse">
            <a:avLst/>
          </a:prstGeom>
          <a:noFill/>
          <a:ln w="11430">
            <a:solidFill>
              <a:srgbClr val="1C1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9180" y="4853939"/>
            <a:ext cx="76200" cy="76200"/>
          </a:xfrm>
          <a:prstGeom prst="ellipse">
            <a:avLst/>
          </a:prstGeom>
          <a:noFill/>
          <a:ln w="11430">
            <a:solidFill>
              <a:srgbClr val="B7B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1880" y="5643880"/>
            <a:ext cx="50800" cy="50800"/>
          </a:xfrm>
          <a:prstGeom prst="ellipse">
            <a:avLst/>
          </a:prstGeom>
          <a:solidFill>
            <a:srgbClr val="C2B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097280" y="1087628"/>
            <a:ext cx="0" cy="620014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" y="1858518"/>
            <a:ext cx="0" cy="632714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97280" y="2629407"/>
            <a:ext cx="0" cy="639065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97280" y="3406647"/>
            <a:ext cx="0" cy="645415"/>
          </a:xfrm>
          <a:prstGeom prst="line">
            <a:avLst/>
          </a:prstGeom>
          <a:ln w="9525">
            <a:solidFill>
              <a:srgbClr val="756F6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7280" y="4177537"/>
            <a:ext cx="0" cy="658115"/>
          </a:xfrm>
          <a:prstGeom prst="line">
            <a:avLst/>
          </a:prstGeom>
          <a:ln w="9525">
            <a:solidFill>
              <a:srgbClr val="756F6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97280" y="4948428"/>
            <a:ext cx="0" cy="677164"/>
          </a:xfrm>
          <a:prstGeom prst="line">
            <a:avLst/>
          </a:prstGeom>
          <a:ln w="9525">
            <a:solidFill>
              <a:srgbClr val="756F6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98448" y="89611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ustaad, b. 1953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16733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son, taxi driver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2450591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nephew,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322783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grandson, exam prep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400507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no apprentice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78231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no apprentice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55595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silence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54335" y="1874519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2800" b="0" i="0">
                <a:solidFill>
                  <a:srgbClr val="5A4A3A"/>
                </a:solidFill>
                <a:latin typeface="JetBrains Mono Light"/>
              </a:rPr>
              <a:t>yrs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914400"/>
            <a:ext cx="5196535" cy="2194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4000" b="0" i="0">
                <a:solidFill>
                  <a:srgbClr val="1C1410"/>
                </a:solidFill>
                <a:latin typeface="JetBrains Mono Light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246120"/>
            <a:ext cx="64309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400" b="1" i="0">
                <a:solidFill>
                  <a:srgbClr val="1C1410"/>
                </a:solidFill>
                <a:latin typeface="JetBrains Mono"/>
              </a:rPr>
              <a:t>median time a kashmiri craft survives without an apprentice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703320"/>
            <a:ext cx="6430975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40000"/>
              </a:lnSpc>
            </a:pPr>
            <a:r>
              <a:rPr sz="1100" b="0" i="0">
                <a:solidFill>
                  <a:srgbClr val="1C1410"/>
                </a:solidFill>
                <a:latin typeface="JetBrains Mono"/>
              </a:rPr>
              <a:t>talking to ten thousand workshops in the valley</a:t>
            </a:r>
          </a:p>
          <a:p>
            <a:pPr algn="r">
              <a:lnSpc>
                <a:spcPct val="140000"/>
              </a:lnSpc>
            </a:pPr>
            <a:r>
              <a:rPr sz="1100" b="0" i="0">
                <a:solidFill>
                  <a:srgbClr val="1C1410"/>
                </a:solidFill>
                <a:latin typeface="JetBrains Mono"/>
              </a:rPr>
              <a:t>is not a sentimental project. it is a deadline.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74175" y="4617720"/>
            <a:ext cx="2377440" cy="0"/>
          </a:xfrm>
          <a:prstGeom prst="line">
            <a:avLst/>
          </a:prstGeom>
          <a:ln w="1524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259775" y="47823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and the survivors keep this much: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25535" y="5074920"/>
            <a:ext cx="2106777" cy="146304"/>
          </a:xfrm>
          <a:prstGeom prst="rect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32312" y="5074920"/>
            <a:ext cx="819302" cy="146304"/>
          </a:xfrm>
          <a:prstGeom prst="rect">
            <a:avLst/>
          </a:prstGeom>
          <a:solidFill>
            <a:srgbClr val="C2B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25535" y="5257800"/>
            <a:ext cx="2106777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00" b="0" i="0" spc="60">
                <a:solidFill>
                  <a:srgbClr val="5A4A3A"/>
                </a:solidFill>
                <a:latin typeface="JetBrains Mono Light"/>
              </a:rPr>
              <a:t>middleman  ·  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8032" y="5257800"/>
            <a:ext cx="118506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1" i="0" spc="60">
                <a:solidFill>
                  <a:srgbClr val="1C1410"/>
                </a:solidFill>
                <a:latin typeface="JetBrains Mono"/>
              </a:rPr>
              <a:t>master  ·  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solution / four interlocking layers, anchored on cryptographic provenance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156572" y="1302888"/>
            <a:ext cx="2612756" cy="1001557"/>
          </a:xfrm>
          <a:prstGeom prst="line">
            <a:avLst/>
          </a:prstGeom>
          <a:ln w="1143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911631" y="2358994"/>
            <a:ext cx="2612756" cy="1001557"/>
          </a:xfrm>
          <a:prstGeom prst="line">
            <a:avLst/>
          </a:prstGeom>
          <a:ln w="1143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642972" y="3406008"/>
            <a:ext cx="2624615" cy="1006103"/>
          </a:xfrm>
          <a:prstGeom prst="line">
            <a:avLst/>
          </a:prstGeom>
          <a:ln w="1143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33780" y="1216660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61948" y="987551"/>
            <a:ext cx="102811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C1410"/>
                </a:solidFill>
                <a:latin typeface="JetBrains Mono"/>
              </a:rPr>
              <a:t>vault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61948" y="1243584"/>
            <a:ext cx="102811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captures what the master never wrote down</a:t>
            </a:r>
          </a:p>
        </p:txBody>
      </p:sp>
      <p:sp>
        <p:nvSpPr>
          <p:cNvPr id="10" name="Oval 9"/>
          <p:cNvSpPr/>
          <p:nvPr/>
        </p:nvSpPr>
        <p:spPr>
          <a:xfrm>
            <a:off x="3764280" y="2255519"/>
            <a:ext cx="152400" cy="152400"/>
          </a:xfrm>
          <a:prstGeom prst="ellipse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7847" y="2039112"/>
            <a:ext cx="75252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C1410"/>
                </a:solidFill>
                <a:latin typeface="JetBrains Mono"/>
              </a:rPr>
              <a:t>sanad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7847" y="2295144"/>
            <a:ext cx="75252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signs the piece against the master's own keypair</a:t>
            </a:r>
          </a:p>
        </p:txBody>
      </p:sp>
      <p:sp>
        <p:nvSpPr>
          <p:cNvPr id="13" name="Oval 12"/>
          <p:cNvSpPr/>
          <p:nvPr/>
        </p:nvSpPr>
        <p:spPr>
          <a:xfrm>
            <a:off x="6520180" y="3319780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8348" y="3090672"/>
            <a:ext cx="47947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C1410"/>
                </a:solidFill>
                <a:latin typeface="JetBrains Mono"/>
              </a:rPr>
              <a:t>ustaad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8348" y="3346704"/>
            <a:ext cx="47947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sells the master's time, not the middleman's</a:t>
            </a:r>
          </a:p>
        </p:txBody>
      </p:sp>
      <p:sp>
        <p:nvSpPr>
          <p:cNvPr id="16" name="Oval 15"/>
          <p:cNvSpPr/>
          <p:nvPr/>
        </p:nvSpPr>
        <p:spPr>
          <a:xfrm>
            <a:off x="9263380" y="4371339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91548" y="4142231"/>
            <a:ext cx="20515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C1410"/>
                </a:solidFill>
                <a:latin typeface="JetBrains Mono"/>
              </a:rPr>
              <a:t>bazaar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91548" y="4398264"/>
            <a:ext cx="205150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sells the object with provenance attached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61120" y="777240"/>
            <a:ext cx="1280160" cy="0"/>
          </a:xfrm>
          <a:prstGeom prst="line">
            <a:avLst/>
          </a:prstGeom>
          <a:ln w="1270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961120" y="850392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1C1410"/>
                </a:solidFill>
                <a:latin typeface="JetBrains Mono"/>
              </a:rPr>
              <a:t>the keystone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110642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ed25519 + rfc 8785 jcs.</a:t>
            </a:r>
          </a:p>
          <a:p>
            <a:pPr algn="l">
              <a:lnSpc>
                <a:spcPct val="15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a counterfeit shawl can be made.</a:t>
            </a:r>
          </a:p>
          <a:p>
            <a:pPr algn="l">
              <a:lnSpc>
                <a:spcPct val="150000"/>
              </a:lnSpc>
            </a:pPr>
            <a:r>
              <a:rPr sz="900" b="0" i="0" spc="60">
                <a:solidFill>
                  <a:srgbClr val="5A4A3A"/>
                </a:solidFill>
                <a:latin typeface="JetBrains Mono Light"/>
              </a:rPr>
              <a:t>a sanad signed by mohammad yusuf cannot.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005072" y="1874519"/>
            <a:ext cx="5047488" cy="347472"/>
          </a:xfrm>
          <a:prstGeom prst="line">
            <a:avLst/>
          </a:prstGeom>
          <a:ln w="6350">
            <a:solidFill>
              <a:srgbClr val="B7B3A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4965192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1C1410"/>
                </a:solidFill>
                <a:latin typeface="JetBrains Mono"/>
              </a:rPr>
              <a:t>today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0" y="4937760"/>
            <a:ext cx="6419088" cy="256032"/>
          </a:xfrm>
          <a:prstGeom prst="rect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937760"/>
            <a:ext cx="1810511" cy="256032"/>
          </a:xfrm>
          <a:prstGeom prst="rect">
            <a:avLst/>
          </a:prstGeom>
          <a:solidFill>
            <a:srgbClr val="C2B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91640" y="5230368"/>
            <a:ext cx="641908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middleman chain  ·  70 to 85 percent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0728" y="5230368"/>
            <a:ext cx="3273551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artisan  ·  15 to 30 percent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32704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1" i="0">
                <a:solidFill>
                  <a:srgbClr val="8B1A1A"/>
                </a:solidFill>
                <a:latin typeface="JetBrains Mono"/>
              </a:rPr>
              <a:t>hunarmand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0" y="5605272"/>
            <a:ext cx="658368" cy="256032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04288" y="5605272"/>
            <a:ext cx="7571231" cy="256032"/>
          </a:xfrm>
          <a:prstGeom prst="rect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79" y="5897880"/>
            <a:ext cx="207568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platform  ·  6 to 9 percent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41448" y="5897880"/>
            <a:ext cx="7571231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artisan  ·  91 to 94 percent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what we offer / four layers, one tacit knowledge spine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163988" y="1050692"/>
            <a:ext cx="145501" cy="129610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91928" y="1184695"/>
            <a:ext cx="113596" cy="214812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53515" y="1523407"/>
            <a:ext cx="113467" cy="115432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83782" y="1671413"/>
            <a:ext cx="118733" cy="167104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75092" y="2008811"/>
            <a:ext cx="128996" cy="109610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324143" y="2078669"/>
            <a:ext cx="44783" cy="221296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57420" y="2420478"/>
            <a:ext cx="127018" cy="185827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65948" y="2570115"/>
            <a:ext cx="113016" cy="192349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72178" y="2874660"/>
            <a:ext cx="94053" cy="144210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02500" y="3017457"/>
            <a:ext cx="91313" cy="215851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68719" y="3344862"/>
            <a:ext cx="151263" cy="167274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70584" y="3484055"/>
            <a:ext cx="113580" cy="224988"/>
          </a:xfrm>
          <a:prstGeom prst="line">
            <a:avLst/>
          </a:prstGeom>
          <a:ln w="10160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0039" y="71323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60">
                <a:solidFill>
                  <a:srgbClr val="5A4A3A"/>
                </a:solidFill>
                <a:latin typeface="JetBrains Mono Light"/>
              </a:rPr>
              <a:t>talim,  kanihama,  c. 1820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71600" y="3657599"/>
            <a:ext cx="1005840" cy="777241"/>
          </a:xfrm>
          <a:prstGeom prst="line">
            <a:avLst/>
          </a:prstGeom>
          <a:ln w="1270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526280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C1410"/>
                </a:solidFill>
                <a:latin typeface="JetBrains Mono"/>
              </a:rPr>
              <a:t>one tacit knowledge spine.</a:t>
            </a:r>
          </a:p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C1410"/>
                </a:solidFill>
                <a:latin typeface="JetBrains Mono"/>
              </a:rPr>
              <a:t>four ways for the master</a:t>
            </a:r>
          </a:p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1C1410"/>
                </a:solidFill>
                <a:latin typeface="JetBrains Mono"/>
              </a:rPr>
              <a:t>to make a living from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8640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5A4A3A"/>
                </a:solidFill>
                <a:latin typeface="JetBrains Mono Light"/>
              </a:rPr>
              <a:t>what kashmir invented in the loom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5A4A3A"/>
                </a:solidFill>
                <a:latin typeface="JetBrains Mono Light"/>
              </a:rPr>
              <a:t>we gave a database, a key, a marketplace,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5A4A3A"/>
                </a:solidFill>
                <a:latin typeface="JetBrains Mono Light"/>
              </a:rPr>
              <a:t>and a calendar.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9601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9A8F84"/>
                </a:solidFill>
                <a:latin typeface="JetBrains Mono Light"/>
              </a:rPr>
              <a:t>01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0" y="1033272"/>
            <a:ext cx="5059375" cy="0"/>
          </a:xfrm>
          <a:prstGeom prst="line">
            <a:avLst/>
          </a:prstGeom>
          <a:ln w="6350">
            <a:solidFill>
              <a:srgbClr val="D4C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29400" y="112471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C1410"/>
                </a:solidFill>
                <a:latin typeface="JetBrains Mono"/>
              </a:rPr>
              <a:t>vault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417320"/>
            <a:ext cx="501365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ai-led capture  ·  craft dna  ·  transcript replay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737360"/>
            <a:ext cx="501365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756F6A"/>
                </a:solidFill>
                <a:latin typeface="JetBrains Mono Light"/>
              </a:rPr>
              <a:t>for the artisan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2258568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9A8F84"/>
                </a:solidFill>
                <a:latin typeface="JetBrains Mono Light"/>
              </a:rPr>
              <a:t>02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0" y="2331720"/>
            <a:ext cx="5059375" cy="0"/>
          </a:xfrm>
          <a:prstGeom prst="line">
            <a:avLst/>
          </a:prstGeom>
          <a:ln w="6350">
            <a:solidFill>
              <a:srgbClr val="D4C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629400" y="242316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JetBrains Mono"/>
              </a:rPr>
              <a:t>sanad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2715768"/>
            <a:ext cx="501365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ed25519 provenance  ·  scan-to-verify qr  ·  public registry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035808"/>
            <a:ext cx="501365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756F6A"/>
                </a:solidFill>
                <a:latin typeface="JetBrains Mono Light"/>
              </a:rPr>
              <a:t>for the buyer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3557015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9A8F84"/>
                </a:solidFill>
                <a:latin typeface="JetBrains Mono Light"/>
              </a:rPr>
              <a:t>03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83680" y="3630168"/>
            <a:ext cx="5059375" cy="0"/>
          </a:xfrm>
          <a:prstGeom prst="line">
            <a:avLst/>
          </a:prstGeom>
          <a:ln w="6350">
            <a:solidFill>
              <a:srgbClr val="D4C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629400" y="3721607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C1410"/>
                </a:solidFill>
                <a:latin typeface="JetBrains Mono"/>
              </a:rPr>
              <a:t>ustaad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014215"/>
            <a:ext cx="501365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workshop calendar  ·  otp booking  ·  seasonal availability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334255"/>
            <a:ext cx="501365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756F6A"/>
                </a:solidFill>
                <a:latin typeface="JetBrains Mono Light"/>
              </a:rPr>
              <a:t>for the learner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855464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9A8F84"/>
                </a:solidFill>
                <a:latin typeface="JetBrains Mono Light"/>
              </a:rPr>
              <a:t>04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583680" y="4928616"/>
            <a:ext cx="5059375" cy="0"/>
          </a:xfrm>
          <a:prstGeom prst="line">
            <a:avLst/>
          </a:prstGeom>
          <a:ln w="6350">
            <a:solidFill>
              <a:srgbClr val="D4C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629400" y="5020055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1C1410"/>
                </a:solidFill>
                <a:latin typeface="JetBrains Mono"/>
              </a:rPr>
              <a:t>bazaar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5312664"/>
            <a:ext cx="501365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curated bundles  ·  checkout  ·  order tracking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632703"/>
            <a:ext cx="501365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756F6A"/>
                </a:solidFill>
                <a:latin typeface="JetBrains Mono Light"/>
              </a:rPr>
              <a:t>for the collector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technology / what carries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spc="60">
                <a:solidFill>
                  <a:srgbClr val="1C1410"/>
                </a:solidFill>
                <a:latin typeface="JetBrains Mono"/>
              </a:rPr>
              <a:t>asr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005840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3160" y="1005840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bhashini  &gt;  ai4bharat  &gt;  groq  &gt;  whisper, with auto-fallback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spc="60">
                <a:solidFill>
                  <a:srgbClr val="1C1410"/>
                </a:solidFill>
                <a:latin typeface="JetBrains Mono"/>
              </a:rPr>
              <a:t>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463040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463040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openrouter aggregation, provider-agnostic structured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spc="60">
                <a:solidFill>
                  <a:srgbClr val="1C1410"/>
                </a:solidFill>
                <a:latin typeface="JetBrains Mono"/>
              </a:rPr>
              <a:t>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920240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920240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multi-pass interview, strict json schema, repair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3774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spc="60">
                <a:solidFill>
                  <a:srgbClr val="1C1410"/>
                </a:solidFill>
                <a:latin typeface="JetBrains Mono"/>
              </a:rPr>
              <a:t>embeddings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377440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377440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sentence-transformers, multilingual-e5-small, 384-dim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8346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spc="60">
                <a:solidFill>
                  <a:srgbClr val="1C1410"/>
                </a:solidFill>
                <a:latin typeface="JetBrains Mono"/>
              </a:rPr>
              <a:t>retrieval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834640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2834640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pgvector cosine over chunked, timestamped transcripts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918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spc="60">
                <a:solidFill>
                  <a:srgbClr val="1C1410"/>
                </a:solidFill>
                <a:latin typeface="JetBrains Mono"/>
              </a:rPr>
              <a:t>signature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291840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291840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ed25519 over rfc 8785 jcs, jws-compact qr, offline 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49039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spc="60">
                <a:solidFill>
                  <a:srgbClr val="1C1410"/>
                </a:solidFill>
                <a:latin typeface="JetBrains Mono"/>
              </a:rPr>
              <a:t>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3749039"/>
            <a:ext cx="1828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19C98"/>
                </a:solidFill>
                <a:latin typeface="JetBrains Mono Light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749039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5A4A3A"/>
                </a:solidFill>
                <a:latin typeface="JetBrains Mono Light"/>
              </a:rPr>
              <a:t>neon postgres, async sqlalchemy, alembic-managed schema</a:t>
            </a:r>
          </a:p>
        </p:txBody>
      </p:sp>
      <p:sp>
        <p:nvSpPr>
          <p:cNvPr id="25" name="Oval 24"/>
          <p:cNvSpPr/>
          <p:nvPr/>
        </p:nvSpPr>
        <p:spPr>
          <a:xfrm>
            <a:off x="10086340" y="942340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88696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audio 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149840" y="1087628"/>
            <a:ext cx="0" cy="549656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0086340" y="1655572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160020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asr ladder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149840" y="1800860"/>
            <a:ext cx="0" cy="549656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0086340" y="2368804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231343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llm extract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49840" y="2514092"/>
            <a:ext cx="0" cy="549656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086340" y="3082036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302666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schema + repair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149840" y="3227324"/>
            <a:ext cx="0" cy="536956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73640" y="3782568"/>
            <a:ext cx="152400" cy="152400"/>
          </a:xfrm>
          <a:prstGeom prst="ellipse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8200" y="373989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ed25519 sign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149840" y="3953256"/>
            <a:ext cx="0" cy="536956"/>
          </a:xfrm>
          <a:prstGeom prst="line">
            <a:avLst/>
          </a:prstGeom>
          <a:ln w="9525">
            <a:solidFill>
              <a:srgbClr val="1C1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10086340" y="4508500"/>
            <a:ext cx="127000" cy="127000"/>
          </a:xfrm>
          <a:prstGeom prst="ellipse">
            <a:avLst/>
          </a:prstGeom>
          <a:solidFill>
            <a:srgbClr val="1C1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8200" y="445312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 spc="60">
                <a:solidFill>
                  <a:srgbClr val="5A4A3A"/>
                </a:solidFill>
                <a:latin typeface="JetBrains Mono Light"/>
              </a:rPr>
              <a:t>index + retrieve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59436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1" i="0">
                <a:solidFill>
                  <a:srgbClr val="1C1410"/>
                </a:solidFill>
                <a:latin typeface="JetBrains Mono"/>
              </a:rPr>
              <a:t>request flow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98932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1C1410"/>
                </a:solidFill>
                <a:latin typeface="JetBrains Mono"/>
              </a:rPr>
              <a:t>every provider has a fallback.  every signature verifies offline.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00216"/>
            <a:ext cx="2377440" cy="0"/>
          </a:xfrm>
          <a:prstGeom prst="line">
            <a:avLst/>
          </a:prstGeom>
          <a:ln w="1143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40280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0" i="0">
                <a:solidFill>
                  <a:srgbClr val="756F6A"/>
                </a:solidFill>
                <a:latin typeface="JetBrains Mono Light"/>
              </a:rPr>
              <a:t>we are not bringing foreign technology to kashmir.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5351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 i="0">
                <a:solidFill>
                  <a:srgbClr val="1C1410"/>
                </a:solidFill>
                <a:latin typeface="JetBrains Mono"/>
              </a:rPr>
              <a:t>we are upgrading what kashmir already invented.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55767" y="4050792"/>
            <a:ext cx="1280160" cy="0"/>
          </a:xfrm>
          <a:prstGeom prst="line">
            <a:avLst/>
          </a:prstGeom>
          <a:ln w="11430">
            <a:solidFill>
              <a:srgbClr val="8B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4325112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 i="0">
                <a:solidFill>
                  <a:srgbClr val="1C1410"/>
                </a:solidFill>
                <a:latin typeface="JetBrains Mono"/>
              </a:rPr>
              <a:t>hunarmand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64024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00" b="0" i="0" spc="120">
                <a:solidFill>
                  <a:srgbClr val="5A4A3A"/>
                </a:solidFill>
                <a:latin typeface="JetBrains Mono Light"/>
              </a:rPr>
              <a:t>tacit knowledge os, srinagar,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35508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hunarmand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6539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 i="0" spc="120">
                <a:solidFill>
                  <a:srgbClr val="A19C98"/>
                </a:solidFill>
                <a:latin typeface="JetBrains Mono Light"/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